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Quattrocento" charset="1" panose="02020502030000000404"/>
      <p:regular r:id="rId17"/>
    </p:embeddedFont>
    <p:embeddedFont>
      <p:font typeface="Quattrocento Bold" charset="1" panose="020208020300000004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notesSlides/notesSlide2.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1047150" y="3072851"/>
            <a:ext cx="9335691" cy="1788614"/>
          </a:xfrm>
          <a:prstGeom prst="rect">
            <a:avLst/>
          </a:prstGeom>
        </p:spPr>
        <p:txBody>
          <a:bodyPr anchor="t" rtlCol="false" tIns="0" lIns="0" bIns="0" rIns="0">
            <a:spAutoFit/>
          </a:bodyPr>
          <a:lstStyle/>
          <a:p>
            <a:pPr algn="l">
              <a:lnSpc>
                <a:spcPts val="6864"/>
              </a:lnSpc>
            </a:pPr>
            <a:r>
              <a:rPr lang="en-US" sz="5500">
                <a:solidFill>
                  <a:srgbClr val="FFD9BE"/>
                </a:solidFill>
                <a:latin typeface="Quattrocento"/>
                <a:ea typeface="Quattrocento"/>
                <a:cs typeface="Quattrocento"/>
                <a:sym typeface="Quattrocento"/>
              </a:rPr>
              <a:t>EscrowX – Decentralized Freelance Payments</a:t>
            </a:r>
          </a:p>
        </p:txBody>
      </p:sp>
      <p:sp>
        <p:nvSpPr>
          <p:cNvPr name="TextBox 11" id="11"/>
          <p:cNvSpPr txBox="true"/>
          <p:nvPr/>
        </p:nvSpPr>
        <p:spPr>
          <a:xfrm rot="0">
            <a:off x="1047150" y="5214938"/>
            <a:ext cx="9335691" cy="1052808"/>
          </a:xfrm>
          <a:prstGeom prst="rect">
            <a:avLst/>
          </a:prstGeom>
        </p:spPr>
        <p:txBody>
          <a:bodyPr anchor="t" rtlCol="false" tIns="0" lIns="0" bIns="0" rIns="0">
            <a:spAutoFit/>
          </a:bodyPr>
          <a:lstStyle/>
          <a:p>
            <a:pPr algn="l">
              <a:lnSpc>
                <a:spcPts val="3670"/>
              </a:lnSpc>
            </a:pPr>
            <a:r>
              <a:rPr lang="en-US" sz="2300">
                <a:solidFill>
                  <a:srgbClr val="F9EEE7"/>
                </a:solidFill>
                <a:latin typeface="Quattrocento"/>
                <a:ea typeface="Quattrocento"/>
                <a:cs typeface="Quattrocento"/>
                <a:sym typeface="Quattrocento"/>
              </a:rPr>
              <a:t>Secure, Low-Cost, and Instant Payment Protection on the Stellar Blockchain</a:t>
            </a:r>
          </a:p>
        </p:txBody>
      </p:sp>
      <p:grpSp>
        <p:nvGrpSpPr>
          <p:cNvPr name="Group 12" id="12"/>
          <p:cNvGrpSpPr/>
          <p:nvPr/>
        </p:nvGrpSpPr>
        <p:grpSpPr>
          <a:xfrm rot="0">
            <a:off x="1047150" y="6613769"/>
            <a:ext cx="3756574" cy="562270"/>
            <a:chOff x="0" y="0"/>
            <a:chExt cx="5008766" cy="749694"/>
          </a:xfrm>
        </p:grpSpPr>
        <p:sp>
          <p:nvSpPr>
            <p:cNvPr name="Freeform 13" id="13"/>
            <p:cNvSpPr/>
            <p:nvPr/>
          </p:nvSpPr>
          <p:spPr>
            <a:xfrm flipH="false" flipV="false" rot="0">
              <a:off x="0" y="0"/>
              <a:ext cx="5008753" cy="749681"/>
            </a:xfrm>
            <a:custGeom>
              <a:avLst/>
              <a:gdLst/>
              <a:ahLst/>
              <a:cxnLst/>
              <a:rect r="r" b="b" t="t" l="l"/>
              <a:pathLst>
                <a:path h="749681" w="5008753">
                  <a:moveTo>
                    <a:pt x="0" y="47879"/>
                  </a:moveTo>
                  <a:cubicBezTo>
                    <a:pt x="0" y="21463"/>
                    <a:pt x="21463" y="0"/>
                    <a:pt x="47879" y="0"/>
                  </a:cubicBezTo>
                  <a:lnTo>
                    <a:pt x="4960874" y="0"/>
                  </a:lnTo>
                  <a:cubicBezTo>
                    <a:pt x="4987290" y="0"/>
                    <a:pt x="5008753" y="21463"/>
                    <a:pt x="5008753" y="47879"/>
                  </a:cubicBezTo>
                  <a:lnTo>
                    <a:pt x="5008753" y="701802"/>
                  </a:lnTo>
                  <a:cubicBezTo>
                    <a:pt x="5008753" y="728218"/>
                    <a:pt x="4987290" y="749681"/>
                    <a:pt x="4960874" y="749681"/>
                  </a:cubicBezTo>
                  <a:lnTo>
                    <a:pt x="47879" y="749681"/>
                  </a:lnTo>
                  <a:cubicBezTo>
                    <a:pt x="21463" y="749681"/>
                    <a:pt x="0" y="728218"/>
                    <a:pt x="0" y="701802"/>
                  </a:cubicBezTo>
                  <a:close/>
                </a:path>
              </a:pathLst>
            </a:custGeom>
            <a:solidFill>
              <a:srgbClr val="441709"/>
            </a:solidFill>
          </p:spPr>
        </p:sp>
      </p:grpSp>
      <p:sp>
        <p:nvSpPr>
          <p:cNvPr name="TextBox 14" id="14"/>
          <p:cNvSpPr txBox="true"/>
          <p:nvPr/>
        </p:nvSpPr>
        <p:spPr>
          <a:xfrm rot="0">
            <a:off x="1226639" y="6627314"/>
            <a:ext cx="4311996" cy="458991"/>
          </a:xfrm>
          <a:prstGeom prst="rect">
            <a:avLst/>
          </a:prstGeom>
        </p:spPr>
        <p:txBody>
          <a:bodyPr anchor="t" rtlCol="false" tIns="0" lIns="0" bIns="0" rIns="0">
            <a:spAutoFit/>
          </a:bodyPr>
          <a:lstStyle/>
          <a:p>
            <a:pPr algn="l">
              <a:lnSpc>
                <a:spcPts val="2872"/>
              </a:lnSpc>
            </a:pPr>
            <a:r>
              <a:rPr lang="en-US" sz="1800">
                <a:solidFill>
                  <a:srgbClr val="F9EEE7"/>
                </a:solidFill>
                <a:latin typeface="Quattrocento"/>
                <a:ea typeface="Quattrocento"/>
                <a:cs typeface="Quattrocento"/>
                <a:sym typeface="Quattrocento"/>
              </a:rPr>
              <a:t>FOUNDER &amp; LEAD DEVELOPER</a:t>
            </a:r>
          </a:p>
        </p:txBody>
      </p:sp>
      <p:grpSp>
        <p:nvGrpSpPr>
          <p:cNvPr name="Group 15" id="15"/>
          <p:cNvGrpSpPr/>
          <p:nvPr/>
        </p:nvGrpSpPr>
        <p:grpSpPr>
          <a:xfrm rot="0">
            <a:off x="4948533" y="6599482"/>
            <a:ext cx="2782043" cy="590845"/>
            <a:chOff x="0" y="0"/>
            <a:chExt cx="3709391" cy="787794"/>
          </a:xfrm>
        </p:grpSpPr>
        <p:sp>
          <p:nvSpPr>
            <p:cNvPr name="Freeform 16" id="16"/>
            <p:cNvSpPr/>
            <p:nvPr/>
          </p:nvSpPr>
          <p:spPr>
            <a:xfrm flipH="false" flipV="false" rot="0">
              <a:off x="0" y="0"/>
              <a:ext cx="3709416" cy="787781"/>
            </a:xfrm>
            <a:custGeom>
              <a:avLst/>
              <a:gdLst/>
              <a:ahLst/>
              <a:cxnLst/>
              <a:rect r="r" b="b" t="t" l="l"/>
              <a:pathLst>
                <a:path h="787781" w="3709416">
                  <a:moveTo>
                    <a:pt x="0" y="48641"/>
                  </a:moveTo>
                  <a:cubicBezTo>
                    <a:pt x="0" y="21844"/>
                    <a:pt x="21844" y="0"/>
                    <a:pt x="48641" y="0"/>
                  </a:cubicBezTo>
                  <a:lnTo>
                    <a:pt x="3660775" y="0"/>
                  </a:lnTo>
                  <a:cubicBezTo>
                    <a:pt x="3687699" y="0"/>
                    <a:pt x="3709416" y="21844"/>
                    <a:pt x="3709416" y="48641"/>
                  </a:cubicBezTo>
                  <a:lnTo>
                    <a:pt x="3709416" y="739140"/>
                  </a:lnTo>
                  <a:cubicBezTo>
                    <a:pt x="3709416" y="766064"/>
                    <a:pt x="3687572" y="787781"/>
                    <a:pt x="3660775" y="787781"/>
                  </a:cubicBezTo>
                  <a:lnTo>
                    <a:pt x="48641" y="787781"/>
                  </a:lnTo>
                  <a:cubicBezTo>
                    <a:pt x="21844" y="787781"/>
                    <a:pt x="0" y="766064"/>
                    <a:pt x="0" y="739140"/>
                  </a:cubicBezTo>
                  <a:close/>
                </a:path>
              </a:pathLst>
            </a:custGeom>
            <a:blipFill>
              <a:blip r:embed="rId6">
                <a:alphaModFix amt="0"/>
              </a:blip>
              <a:stretch>
                <a:fillRect l="0" t="-41747" r="0" b="-41749"/>
              </a:stretch>
            </a:blipFill>
            <a:ln w="9526" cap="sq">
              <a:solidFill>
                <a:srgbClr val="EF9C82"/>
              </a:solidFill>
              <a:prstDash val="solid"/>
              <a:miter/>
            </a:ln>
          </p:spPr>
        </p:sp>
      </p:grpSp>
      <p:sp>
        <p:nvSpPr>
          <p:cNvPr name="TextBox 17" id="17"/>
          <p:cNvSpPr txBox="true"/>
          <p:nvPr/>
        </p:nvSpPr>
        <p:spPr>
          <a:xfrm rot="0">
            <a:off x="5142309" y="6627314"/>
            <a:ext cx="3308899" cy="458991"/>
          </a:xfrm>
          <a:prstGeom prst="rect">
            <a:avLst/>
          </a:prstGeom>
        </p:spPr>
        <p:txBody>
          <a:bodyPr anchor="t" rtlCol="false" tIns="0" lIns="0" bIns="0" rIns="0">
            <a:spAutoFit/>
          </a:bodyPr>
          <a:lstStyle/>
          <a:p>
            <a:pPr algn="l">
              <a:lnSpc>
                <a:spcPts val="2872"/>
              </a:lnSpc>
            </a:pPr>
            <a:r>
              <a:rPr lang="en-US" sz="1800">
                <a:solidFill>
                  <a:srgbClr val="EF9C82"/>
                </a:solidFill>
                <a:latin typeface="Quattrocento"/>
                <a:ea typeface="Quattrocento"/>
                <a:cs typeface="Quattrocento"/>
                <a:sym typeface="Quattrocento"/>
              </a:rPr>
              <a:t>STELLAR ECOSYSTEM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1047150" y="1244051"/>
            <a:ext cx="1831772" cy="515988"/>
            <a:chOff x="0" y="0"/>
            <a:chExt cx="2442362" cy="687984"/>
          </a:xfrm>
        </p:grpSpPr>
        <p:sp>
          <p:nvSpPr>
            <p:cNvPr name="Freeform 11" id="11"/>
            <p:cNvSpPr/>
            <p:nvPr/>
          </p:nvSpPr>
          <p:spPr>
            <a:xfrm flipH="false" flipV="false" rot="0">
              <a:off x="0" y="0"/>
              <a:ext cx="2442337" cy="687833"/>
            </a:xfrm>
            <a:custGeom>
              <a:avLst/>
              <a:gdLst/>
              <a:ahLst/>
              <a:cxnLst/>
              <a:rect r="r" b="b" t="t" l="l"/>
              <a:pathLst>
                <a:path h="687833" w="2442337">
                  <a:moveTo>
                    <a:pt x="0" y="44831"/>
                  </a:moveTo>
                  <a:cubicBezTo>
                    <a:pt x="0" y="20066"/>
                    <a:pt x="20066" y="0"/>
                    <a:pt x="44831" y="0"/>
                  </a:cubicBezTo>
                  <a:lnTo>
                    <a:pt x="2397506" y="0"/>
                  </a:lnTo>
                  <a:cubicBezTo>
                    <a:pt x="2422271" y="0"/>
                    <a:pt x="2442337" y="20066"/>
                    <a:pt x="2442337" y="44831"/>
                  </a:cubicBezTo>
                  <a:lnTo>
                    <a:pt x="2442337" y="643001"/>
                  </a:lnTo>
                  <a:cubicBezTo>
                    <a:pt x="2442337" y="667766"/>
                    <a:pt x="2422271" y="687832"/>
                    <a:pt x="2397506" y="687832"/>
                  </a:cubicBezTo>
                  <a:lnTo>
                    <a:pt x="44831" y="687832"/>
                  </a:lnTo>
                  <a:cubicBezTo>
                    <a:pt x="20066" y="687959"/>
                    <a:pt x="0" y="667893"/>
                    <a:pt x="0" y="643128"/>
                  </a:cubicBezTo>
                  <a:close/>
                </a:path>
              </a:pathLst>
            </a:custGeom>
            <a:solidFill>
              <a:srgbClr val="441709"/>
            </a:solidFill>
          </p:spPr>
        </p:sp>
      </p:grpSp>
      <p:sp>
        <p:nvSpPr>
          <p:cNvPr name="TextBox 12" id="12"/>
          <p:cNvSpPr txBox="true"/>
          <p:nvPr/>
        </p:nvSpPr>
        <p:spPr>
          <a:xfrm rot="0">
            <a:off x="1215333" y="1261462"/>
            <a:ext cx="2409825" cy="414490"/>
          </a:xfrm>
          <a:prstGeom prst="rect">
            <a:avLst/>
          </a:prstGeom>
        </p:spPr>
        <p:txBody>
          <a:bodyPr anchor="t" rtlCol="false" tIns="0" lIns="0" bIns="0" rIns="0">
            <a:spAutoFit/>
          </a:bodyPr>
          <a:lstStyle/>
          <a:p>
            <a:pPr algn="l">
              <a:lnSpc>
                <a:spcPts val="2631"/>
              </a:lnSpc>
            </a:pPr>
            <a:r>
              <a:rPr lang="en-US" sz="1700">
                <a:solidFill>
                  <a:srgbClr val="F9EEE7"/>
                </a:solidFill>
                <a:latin typeface="Quattrocento"/>
                <a:ea typeface="Quattrocento"/>
                <a:cs typeface="Quattrocento"/>
                <a:sym typeface="Quattrocento"/>
              </a:rPr>
              <a:t>THE PROBLEM</a:t>
            </a:r>
          </a:p>
        </p:txBody>
      </p:sp>
      <p:sp>
        <p:nvSpPr>
          <p:cNvPr name="TextBox 13" id="13"/>
          <p:cNvSpPr txBox="true"/>
          <p:nvPr/>
        </p:nvSpPr>
        <p:spPr>
          <a:xfrm rot="0">
            <a:off x="1047150" y="1836534"/>
            <a:ext cx="9335691" cy="1678486"/>
          </a:xfrm>
          <a:prstGeom prst="rect">
            <a:avLst/>
          </a:prstGeom>
        </p:spPr>
        <p:txBody>
          <a:bodyPr anchor="t" rtlCol="false" tIns="0" lIns="0" bIns="0" rIns="0">
            <a:spAutoFit/>
          </a:bodyPr>
          <a:lstStyle/>
          <a:p>
            <a:pPr algn="l">
              <a:lnSpc>
                <a:spcPts val="6364"/>
              </a:lnSpc>
            </a:pPr>
            <a:r>
              <a:rPr lang="en-US" sz="5100">
                <a:solidFill>
                  <a:srgbClr val="FFD9BE"/>
                </a:solidFill>
                <a:latin typeface="Quattrocento"/>
                <a:ea typeface="Quattrocento"/>
                <a:cs typeface="Quattrocento"/>
                <a:sym typeface="Quattrocento"/>
              </a:rPr>
              <a:t>The Freelance Trust &amp; Fee Crisis</a:t>
            </a:r>
          </a:p>
        </p:txBody>
      </p:sp>
      <p:grpSp>
        <p:nvGrpSpPr>
          <p:cNvPr name="Group 14" id="14"/>
          <p:cNvGrpSpPr/>
          <p:nvPr/>
        </p:nvGrpSpPr>
        <p:grpSpPr>
          <a:xfrm rot="0">
            <a:off x="1047150" y="3909422"/>
            <a:ext cx="4536281" cy="2870006"/>
            <a:chOff x="0" y="0"/>
            <a:chExt cx="6048375" cy="3826675"/>
          </a:xfrm>
        </p:grpSpPr>
        <p:sp>
          <p:nvSpPr>
            <p:cNvPr name="Freeform 15" id="15"/>
            <p:cNvSpPr/>
            <p:nvPr/>
          </p:nvSpPr>
          <p:spPr>
            <a:xfrm flipH="false" flipV="false" rot="0">
              <a:off x="0" y="0"/>
              <a:ext cx="6048375" cy="3826764"/>
            </a:xfrm>
            <a:custGeom>
              <a:avLst/>
              <a:gdLst/>
              <a:ahLst/>
              <a:cxnLst/>
              <a:rect r="r" b="b" t="t" l="l"/>
              <a:pathLst>
                <a:path h="3826764" w="6048375">
                  <a:moveTo>
                    <a:pt x="0" y="56134"/>
                  </a:moveTo>
                  <a:cubicBezTo>
                    <a:pt x="0" y="25146"/>
                    <a:pt x="25146" y="0"/>
                    <a:pt x="56134" y="0"/>
                  </a:cubicBezTo>
                  <a:lnTo>
                    <a:pt x="5992241" y="0"/>
                  </a:lnTo>
                  <a:cubicBezTo>
                    <a:pt x="6023229" y="0"/>
                    <a:pt x="6048375" y="25146"/>
                    <a:pt x="6048375" y="56134"/>
                  </a:cubicBezTo>
                  <a:lnTo>
                    <a:pt x="6048375" y="3770630"/>
                  </a:lnTo>
                  <a:cubicBezTo>
                    <a:pt x="6048375" y="3801618"/>
                    <a:pt x="6023229" y="3826764"/>
                    <a:pt x="5992241" y="3826764"/>
                  </a:cubicBezTo>
                  <a:lnTo>
                    <a:pt x="56134" y="3826764"/>
                  </a:lnTo>
                  <a:cubicBezTo>
                    <a:pt x="25146" y="3826764"/>
                    <a:pt x="0" y="3801618"/>
                    <a:pt x="0" y="3770630"/>
                  </a:cubicBezTo>
                  <a:close/>
                </a:path>
              </a:pathLst>
            </a:custGeom>
            <a:solidFill>
              <a:srgbClr val="315251"/>
            </a:solidFill>
          </p:spPr>
        </p:sp>
      </p:grpSp>
      <p:sp>
        <p:nvSpPr>
          <p:cNvPr name="TextBox 16" id="16"/>
          <p:cNvSpPr txBox="true"/>
          <p:nvPr/>
        </p:nvSpPr>
        <p:spPr>
          <a:xfrm rot="0">
            <a:off x="1327547" y="4170759"/>
            <a:ext cx="3923405" cy="431606"/>
          </a:xfrm>
          <a:prstGeom prst="rect">
            <a:avLst/>
          </a:prstGeom>
        </p:spPr>
        <p:txBody>
          <a:bodyPr anchor="t" rtlCol="false" tIns="0" lIns="0" bIns="0" rIns="0">
            <a:spAutoFit/>
          </a:bodyPr>
          <a:lstStyle/>
          <a:p>
            <a:pPr algn="l">
              <a:lnSpc>
                <a:spcPts val="3119"/>
              </a:lnSpc>
            </a:pPr>
            <a:r>
              <a:rPr lang="en-US" sz="2499">
                <a:solidFill>
                  <a:srgbClr val="F9EEE7"/>
                </a:solidFill>
                <a:latin typeface="Quattrocento"/>
                <a:ea typeface="Quattrocento"/>
                <a:cs typeface="Quattrocento"/>
                <a:sym typeface="Quattrocento"/>
              </a:rPr>
              <a:t>Extortionate Platform Fees</a:t>
            </a:r>
          </a:p>
        </p:txBody>
      </p:sp>
      <p:sp>
        <p:nvSpPr>
          <p:cNvPr name="TextBox 17" id="17"/>
          <p:cNvSpPr txBox="true"/>
          <p:nvPr/>
        </p:nvSpPr>
        <p:spPr>
          <a:xfrm rot="0">
            <a:off x="1327547" y="4674394"/>
            <a:ext cx="3975497" cy="1824638"/>
          </a:xfrm>
          <a:prstGeom prst="rect">
            <a:avLst/>
          </a:prstGeom>
        </p:spPr>
        <p:txBody>
          <a:bodyPr anchor="t" rtlCol="false" tIns="0" lIns="0" bIns="0" rIns="0">
            <a:spAutoFit/>
          </a:bodyPr>
          <a:lstStyle/>
          <a:p>
            <a:pPr algn="l">
              <a:lnSpc>
                <a:spcPts val="3405"/>
              </a:lnSpc>
            </a:pPr>
            <a:r>
              <a:rPr lang="en-US" sz="2200">
                <a:solidFill>
                  <a:srgbClr val="F9EEE7"/>
                </a:solidFill>
                <a:latin typeface="Quattrocento"/>
                <a:ea typeface="Quattrocento"/>
                <a:cs typeface="Quattrocento"/>
                <a:sym typeface="Quattrocento"/>
              </a:rPr>
              <a:t>Upwork and Fiverr charge </a:t>
            </a:r>
            <a:r>
              <a:rPr lang="en-US" sz="2200" b="true">
                <a:solidFill>
                  <a:srgbClr val="F9EEE7"/>
                </a:solidFill>
                <a:latin typeface="Quattrocento Bold"/>
                <a:ea typeface="Quattrocento Bold"/>
                <a:cs typeface="Quattrocento Bold"/>
                <a:sym typeface="Quattrocento Bold"/>
              </a:rPr>
              <a:t>10–20% commission</a:t>
            </a:r>
            <a:r>
              <a:rPr lang="en-US" sz="2200">
                <a:solidFill>
                  <a:srgbClr val="F9EEE7"/>
                </a:solidFill>
                <a:latin typeface="Quattrocento"/>
                <a:ea typeface="Quattrocento"/>
                <a:cs typeface="Quattrocento"/>
                <a:sym typeface="Quattrocento"/>
              </a:rPr>
              <a:t> per transaction, squeezing freelancer margins to the bone.</a:t>
            </a:r>
          </a:p>
        </p:txBody>
      </p:sp>
      <p:grpSp>
        <p:nvGrpSpPr>
          <p:cNvPr name="Group 18" id="18"/>
          <p:cNvGrpSpPr/>
          <p:nvPr/>
        </p:nvGrpSpPr>
        <p:grpSpPr>
          <a:xfrm rot="0">
            <a:off x="5846416" y="3909422"/>
            <a:ext cx="4536434" cy="2870006"/>
            <a:chOff x="0" y="0"/>
            <a:chExt cx="6048578" cy="3826675"/>
          </a:xfrm>
        </p:grpSpPr>
        <p:sp>
          <p:nvSpPr>
            <p:cNvPr name="Freeform 19" id="19"/>
            <p:cNvSpPr/>
            <p:nvPr/>
          </p:nvSpPr>
          <p:spPr>
            <a:xfrm flipH="false" flipV="false" rot="0">
              <a:off x="0" y="0"/>
              <a:ext cx="6048629" cy="3826764"/>
            </a:xfrm>
            <a:custGeom>
              <a:avLst/>
              <a:gdLst/>
              <a:ahLst/>
              <a:cxnLst/>
              <a:rect r="r" b="b" t="t" l="l"/>
              <a:pathLst>
                <a:path h="3826764" w="6048629">
                  <a:moveTo>
                    <a:pt x="0" y="56134"/>
                  </a:moveTo>
                  <a:cubicBezTo>
                    <a:pt x="0" y="25146"/>
                    <a:pt x="25146" y="0"/>
                    <a:pt x="56134" y="0"/>
                  </a:cubicBezTo>
                  <a:lnTo>
                    <a:pt x="5992495" y="0"/>
                  </a:lnTo>
                  <a:cubicBezTo>
                    <a:pt x="6023483" y="0"/>
                    <a:pt x="6048629" y="25146"/>
                    <a:pt x="6048629" y="56134"/>
                  </a:cubicBezTo>
                  <a:lnTo>
                    <a:pt x="6048629" y="3770630"/>
                  </a:lnTo>
                  <a:cubicBezTo>
                    <a:pt x="6048629" y="3801618"/>
                    <a:pt x="6023483" y="3826764"/>
                    <a:pt x="5992495" y="3826764"/>
                  </a:cubicBezTo>
                  <a:lnTo>
                    <a:pt x="56134" y="3826764"/>
                  </a:lnTo>
                  <a:cubicBezTo>
                    <a:pt x="25146" y="3826764"/>
                    <a:pt x="0" y="3801618"/>
                    <a:pt x="0" y="3770630"/>
                  </a:cubicBezTo>
                  <a:close/>
                </a:path>
              </a:pathLst>
            </a:custGeom>
            <a:solidFill>
              <a:srgbClr val="315251"/>
            </a:solidFill>
          </p:spPr>
        </p:sp>
      </p:grpSp>
      <p:sp>
        <p:nvSpPr>
          <p:cNvPr name="TextBox 20" id="20"/>
          <p:cNvSpPr txBox="true"/>
          <p:nvPr/>
        </p:nvSpPr>
        <p:spPr>
          <a:xfrm rot="0">
            <a:off x="6126804" y="4170759"/>
            <a:ext cx="3300260" cy="431606"/>
          </a:xfrm>
          <a:prstGeom prst="rect">
            <a:avLst/>
          </a:prstGeom>
        </p:spPr>
        <p:txBody>
          <a:bodyPr anchor="t" rtlCol="false" tIns="0" lIns="0" bIns="0" rIns="0">
            <a:spAutoFit/>
          </a:bodyPr>
          <a:lstStyle/>
          <a:p>
            <a:pPr algn="l">
              <a:lnSpc>
                <a:spcPts val="3119"/>
              </a:lnSpc>
            </a:pPr>
            <a:r>
              <a:rPr lang="en-US" sz="2499">
                <a:solidFill>
                  <a:srgbClr val="F9EEE7"/>
                </a:solidFill>
                <a:latin typeface="Quattrocento"/>
                <a:ea typeface="Quattrocento"/>
                <a:cs typeface="Quattrocento"/>
                <a:sym typeface="Quattrocento"/>
              </a:rPr>
              <a:t>Slow &amp; Costly Payouts</a:t>
            </a:r>
          </a:p>
        </p:txBody>
      </p:sp>
      <p:sp>
        <p:nvSpPr>
          <p:cNvPr name="TextBox 21" id="21"/>
          <p:cNvSpPr txBox="true"/>
          <p:nvPr/>
        </p:nvSpPr>
        <p:spPr>
          <a:xfrm rot="0">
            <a:off x="6126804" y="4674394"/>
            <a:ext cx="3975649" cy="1824638"/>
          </a:xfrm>
          <a:prstGeom prst="rect">
            <a:avLst/>
          </a:prstGeom>
        </p:spPr>
        <p:txBody>
          <a:bodyPr anchor="t" rtlCol="false" tIns="0" lIns="0" bIns="0" rIns="0">
            <a:spAutoFit/>
          </a:bodyPr>
          <a:lstStyle/>
          <a:p>
            <a:pPr algn="l">
              <a:lnSpc>
                <a:spcPts val="3405"/>
              </a:lnSpc>
            </a:pPr>
            <a:r>
              <a:rPr lang="en-US" sz="2200">
                <a:solidFill>
                  <a:srgbClr val="F9EEE7"/>
                </a:solidFill>
                <a:latin typeface="Quattrocento"/>
                <a:ea typeface="Quattrocento"/>
                <a:cs typeface="Quattrocento"/>
                <a:sym typeface="Quattrocento"/>
              </a:rPr>
              <a:t>Cross-border wire fees and payout holds can delay payments by </a:t>
            </a:r>
            <a:r>
              <a:rPr lang="en-US" sz="2200" b="true">
                <a:solidFill>
                  <a:srgbClr val="F9EEE7"/>
                </a:solidFill>
                <a:latin typeface="Quattrocento Bold"/>
                <a:ea typeface="Quattrocento Bold"/>
                <a:cs typeface="Quattrocento Bold"/>
                <a:sym typeface="Quattrocento Bold"/>
              </a:rPr>
              <a:t>up to 14 days</a:t>
            </a:r>
            <a:r>
              <a:rPr lang="en-US" sz="2200">
                <a:solidFill>
                  <a:srgbClr val="F9EEE7"/>
                </a:solidFill>
                <a:latin typeface="Quattrocento"/>
                <a:ea typeface="Quattrocento"/>
                <a:cs typeface="Quattrocento"/>
                <a:sym typeface="Quattrocento"/>
              </a:rPr>
              <a:t>, crippling cash flow.</a:t>
            </a:r>
          </a:p>
        </p:txBody>
      </p:sp>
      <p:grpSp>
        <p:nvGrpSpPr>
          <p:cNvPr name="Group 22" id="22"/>
          <p:cNvGrpSpPr/>
          <p:nvPr/>
        </p:nvGrpSpPr>
        <p:grpSpPr>
          <a:xfrm rot="0">
            <a:off x="1047150" y="7042394"/>
            <a:ext cx="9335691" cy="2000545"/>
            <a:chOff x="0" y="0"/>
            <a:chExt cx="12447588" cy="2667394"/>
          </a:xfrm>
        </p:grpSpPr>
        <p:sp>
          <p:nvSpPr>
            <p:cNvPr name="Freeform 23" id="23"/>
            <p:cNvSpPr/>
            <p:nvPr/>
          </p:nvSpPr>
          <p:spPr>
            <a:xfrm flipH="false" flipV="false" rot="0">
              <a:off x="0" y="0"/>
              <a:ext cx="12447651" cy="2667508"/>
            </a:xfrm>
            <a:custGeom>
              <a:avLst/>
              <a:gdLst/>
              <a:ahLst/>
              <a:cxnLst/>
              <a:rect r="r" b="b" t="t" l="l"/>
              <a:pathLst>
                <a:path h="2667508" w="12447651">
                  <a:moveTo>
                    <a:pt x="0" y="56134"/>
                  </a:moveTo>
                  <a:cubicBezTo>
                    <a:pt x="0" y="25146"/>
                    <a:pt x="25146" y="0"/>
                    <a:pt x="56134" y="0"/>
                  </a:cubicBezTo>
                  <a:lnTo>
                    <a:pt x="12391517" y="0"/>
                  </a:lnTo>
                  <a:cubicBezTo>
                    <a:pt x="12422505" y="0"/>
                    <a:pt x="12447651" y="25146"/>
                    <a:pt x="12447651" y="56134"/>
                  </a:cubicBezTo>
                  <a:lnTo>
                    <a:pt x="12447651" y="2611374"/>
                  </a:lnTo>
                  <a:cubicBezTo>
                    <a:pt x="12447651" y="2642362"/>
                    <a:pt x="12422505" y="2667508"/>
                    <a:pt x="12391517" y="2667508"/>
                  </a:cubicBezTo>
                  <a:lnTo>
                    <a:pt x="56134" y="2667508"/>
                  </a:lnTo>
                  <a:cubicBezTo>
                    <a:pt x="25146" y="2667508"/>
                    <a:pt x="0" y="2642362"/>
                    <a:pt x="0" y="2611374"/>
                  </a:cubicBezTo>
                  <a:close/>
                </a:path>
              </a:pathLst>
            </a:custGeom>
            <a:solidFill>
              <a:srgbClr val="315251"/>
            </a:solidFill>
          </p:spPr>
        </p:sp>
      </p:grpSp>
      <p:sp>
        <p:nvSpPr>
          <p:cNvPr name="TextBox 24" id="24"/>
          <p:cNvSpPr txBox="true"/>
          <p:nvPr/>
        </p:nvSpPr>
        <p:spPr>
          <a:xfrm rot="0">
            <a:off x="1327547" y="7303741"/>
            <a:ext cx="3300260" cy="431606"/>
          </a:xfrm>
          <a:prstGeom prst="rect">
            <a:avLst/>
          </a:prstGeom>
        </p:spPr>
        <p:txBody>
          <a:bodyPr anchor="t" rtlCol="false" tIns="0" lIns="0" bIns="0" rIns="0">
            <a:spAutoFit/>
          </a:bodyPr>
          <a:lstStyle/>
          <a:p>
            <a:pPr algn="l">
              <a:lnSpc>
                <a:spcPts val="3119"/>
              </a:lnSpc>
            </a:pPr>
            <a:r>
              <a:rPr lang="en-US" sz="2499">
                <a:solidFill>
                  <a:srgbClr val="F9EEE7"/>
                </a:solidFill>
                <a:latin typeface="Quattrocento"/>
                <a:ea typeface="Quattrocento"/>
                <a:cs typeface="Quattrocento"/>
                <a:sym typeface="Quattrocento"/>
              </a:rPr>
              <a:t>The Trust Deficit</a:t>
            </a:r>
          </a:p>
        </p:txBody>
      </p:sp>
      <p:sp>
        <p:nvSpPr>
          <p:cNvPr name="TextBox 25" id="25"/>
          <p:cNvSpPr txBox="true"/>
          <p:nvPr/>
        </p:nvSpPr>
        <p:spPr>
          <a:xfrm rot="0">
            <a:off x="1327547" y="7807376"/>
            <a:ext cx="8774906" cy="955177"/>
          </a:xfrm>
          <a:prstGeom prst="rect">
            <a:avLst/>
          </a:prstGeom>
        </p:spPr>
        <p:txBody>
          <a:bodyPr anchor="t" rtlCol="false" tIns="0" lIns="0" bIns="0" rIns="0">
            <a:spAutoFit/>
          </a:bodyPr>
          <a:lstStyle/>
          <a:p>
            <a:pPr algn="l">
              <a:lnSpc>
                <a:spcPts val="3405"/>
              </a:lnSpc>
            </a:pPr>
            <a:r>
              <a:rPr lang="en-US" sz="2200">
                <a:solidFill>
                  <a:srgbClr val="F9EEE7"/>
                </a:solidFill>
                <a:latin typeface="Quattrocento"/>
                <a:ea typeface="Quattrocento"/>
                <a:cs typeface="Quattrocento"/>
                <a:sym typeface="Quattrocento"/>
              </a:rPr>
              <a:t>Freelancers risk non-payment; clients risk paying upfront for subpar work. </a:t>
            </a:r>
            <a:r>
              <a:rPr lang="en-US" sz="2200" b="true">
                <a:solidFill>
                  <a:srgbClr val="F9EEE7"/>
                </a:solidFill>
                <a:latin typeface="Quattrocento Bold"/>
                <a:ea typeface="Quattrocento Bold"/>
                <a:cs typeface="Quattrocento Bold"/>
                <a:sym typeface="Quattrocento Bold"/>
              </a:rPr>
              <a:t>No neutral ground exists.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2767908" y="831209"/>
            <a:ext cx="1352102" cy="325784"/>
            <a:chOff x="0" y="0"/>
            <a:chExt cx="1802803" cy="434378"/>
          </a:xfrm>
        </p:grpSpPr>
        <p:sp>
          <p:nvSpPr>
            <p:cNvPr name="Freeform 7" id="7"/>
            <p:cNvSpPr/>
            <p:nvPr/>
          </p:nvSpPr>
          <p:spPr>
            <a:xfrm flipH="false" flipV="false" rot="0">
              <a:off x="0" y="0"/>
              <a:ext cx="1802765" cy="434340"/>
            </a:xfrm>
            <a:custGeom>
              <a:avLst/>
              <a:gdLst/>
              <a:ahLst/>
              <a:cxnLst/>
              <a:rect r="r" b="b" t="t" l="l"/>
              <a:pathLst>
                <a:path h="434340" w="1802765">
                  <a:moveTo>
                    <a:pt x="0" y="31369"/>
                  </a:moveTo>
                  <a:cubicBezTo>
                    <a:pt x="0" y="14097"/>
                    <a:pt x="14097" y="0"/>
                    <a:pt x="31369" y="0"/>
                  </a:cubicBezTo>
                  <a:lnTo>
                    <a:pt x="1771396" y="0"/>
                  </a:lnTo>
                  <a:cubicBezTo>
                    <a:pt x="1788795" y="0"/>
                    <a:pt x="1802765" y="14097"/>
                    <a:pt x="1802765" y="31369"/>
                  </a:cubicBezTo>
                  <a:lnTo>
                    <a:pt x="1802765" y="402971"/>
                  </a:lnTo>
                  <a:cubicBezTo>
                    <a:pt x="1802765" y="420370"/>
                    <a:pt x="1788668" y="434340"/>
                    <a:pt x="1771396" y="434340"/>
                  </a:cubicBezTo>
                  <a:lnTo>
                    <a:pt x="31369" y="434340"/>
                  </a:lnTo>
                  <a:cubicBezTo>
                    <a:pt x="14097" y="434340"/>
                    <a:pt x="0" y="420370"/>
                    <a:pt x="0" y="402971"/>
                  </a:cubicBezTo>
                  <a:close/>
                </a:path>
              </a:pathLst>
            </a:custGeom>
            <a:solidFill>
              <a:srgbClr val="441709"/>
            </a:solidFill>
          </p:spPr>
        </p:sp>
      </p:grpSp>
      <p:sp>
        <p:nvSpPr>
          <p:cNvPr name="TextBox 8" id="8"/>
          <p:cNvSpPr txBox="true"/>
          <p:nvPr/>
        </p:nvSpPr>
        <p:spPr>
          <a:xfrm rot="0">
            <a:off x="2885627" y="880462"/>
            <a:ext cx="2031054" cy="217732"/>
          </a:xfrm>
          <a:prstGeom prst="rect">
            <a:avLst/>
          </a:prstGeom>
        </p:spPr>
        <p:txBody>
          <a:bodyPr anchor="t" rtlCol="false" tIns="0" lIns="0" bIns="0" rIns="0">
            <a:spAutoFit/>
          </a:bodyPr>
          <a:lstStyle/>
          <a:p>
            <a:pPr algn="l">
              <a:lnSpc>
                <a:spcPts val="1584"/>
              </a:lnSpc>
            </a:pPr>
            <a:r>
              <a:rPr lang="en-US" sz="1200">
                <a:solidFill>
                  <a:srgbClr val="F9EEE7"/>
                </a:solidFill>
                <a:latin typeface="Quattrocento"/>
                <a:ea typeface="Quattrocento"/>
                <a:cs typeface="Quattrocento"/>
                <a:sym typeface="Quattrocento"/>
              </a:rPr>
              <a:t>THE SOLUTION</a:t>
            </a:r>
          </a:p>
        </p:txBody>
      </p:sp>
      <p:sp>
        <p:nvSpPr>
          <p:cNvPr name="TextBox 9" id="9"/>
          <p:cNvSpPr txBox="true"/>
          <p:nvPr/>
        </p:nvSpPr>
        <p:spPr>
          <a:xfrm rot="0">
            <a:off x="2767908" y="1189434"/>
            <a:ext cx="10996765" cy="596656"/>
          </a:xfrm>
          <a:prstGeom prst="rect">
            <a:avLst/>
          </a:prstGeom>
        </p:spPr>
        <p:txBody>
          <a:bodyPr anchor="t" rtlCol="false" tIns="0" lIns="0" bIns="0" rIns="0">
            <a:spAutoFit/>
          </a:bodyPr>
          <a:lstStyle/>
          <a:p>
            <a:pPr algn="l">
              <a:lnSpc>
                <a:spcPts val="4492"/>
              </a:lnSpc>
            </a:pPr>
            <a:r>
              <a:rPr lang="en-US" sz="3600">
                <a:solidFill>
                  <a:srgbClr val="FFD9BE"/>
                </a:solidFill>
                <a:latin typeface="Quattrocento"/>
                <a:ea typeface="Quattrocento"/>
                <a:cs typeface="Quattrocento"/>
                <a:sym typeface="Quattrocento"/>
              </a:rPr>
              <a:t>EscrowX: Secured Freelance Payment Protection</a:t>
            </a:r>
          </a:p>
        </p:txBody>
      </p:sp>
      <p:sp>
        <p:nvSpPr>
          <p:cNvPr name="TextBox 10" id="10"/>
          <p:cNvSpPr txBox="true"/>
          <p:nvPr/>
        </p:nvSpPr>
        <p:spPr>
          <a:xfrm rot="0">
            <a:off x="2767908" y="1950691"/>
            <a:ext cx="12752194" cy="548583"/>
          </a:xfrm>
          <a:prstGeom prst="rect">
            <a:avLst/>
          </a:prstGeom>
        </p:spPr>
        <p:txBody>
          <a:bodyPr anchor="t" rtlCol="false" tIns="0" lIns="0" bIns="0" rIns="0">
            <a:spAutoFit/>
          </a:bodyPr>
          <a:lstStyle/>
          <a:p>
            <a:pPr algn="l">
              <a:lnSpc>
                <a:spcPts val="1980"/>
              </a:lnSpc>
            </a:pPr>
            <a:r>
              <a:rPr lang="en-US" sz="1500">
                <a:solidFill>
                  <a:srgbClr val="F9EEE7"/>
                </a:solidFill>
                <a:latin typeface="Quattrocento"/>
                <a:ea typeface="Quattrocento"/>
                <a:cs typeface="Quattrocento"/>
                <a:sym typeface="Quattrocento"/>
              </a:rPr>
              <a:t>By using smart contracts, we eliminate the centralized middleman. Clients secure funds directly in an immutable escrow contract. Funds cannot be retrieved by either party until milestones are completed and approved, or a refund is issued — ironclad security at virtually zero cost.</a:t>
            </a:r>
          </a:p>
        </p:txBody>
      </p:sp>
      <p:grpSp>
        <p:nvGrpSpPr>
          <p:cNvPr name="Group 11" id="11"/>
          <p:cNvGrpSpPr/>
          <p:nvPr/>
        </p:nvGrpSpPr>
        <p:grpSpPr>
          <a:xfrm rot="0">
            <a:off x="3341789" y="2644226"/>
            <a:ext cx="11604422" cy="6146454"/>
            <a:chOff x="0" y="0"/>
            <a:chExt cx="15472562" cy="8195272"/>
          </a:xfrm>
        </p:grpSpPr>
        <p:sp>
          <p:nvSpPr>
            <p:cNvPr name="Freeform 12" id="12" descr="preencoded.png"/>
            <p:cNvSpPr/>
            <p:nvPr/>
          </p:nvSpPr>
          <p:spPr>
            <a:xfrm flipH="false" flipV="false" rot="0">
              <a:off x="0" y="0"/>
              <a:ext cx="15472538" cy="8195310"/>
            </a:xfrm>
            <a:custGeom>
              <a:avLst/>
              <a:gdLst/>
              <a:ahLst/>
              <a:cxnLst/>
              <a:rect r="r" b="b" t="t" l="l"/>
              <a:pathLst>
                <a:path h="8195310" w="15472538">
                  <a:moveTo>
                    <a:pt x="0" y="0"/>
                  </a:moveTo>
                  <a:lnTo>
                    <a:pt x="15472538" y="0"/>
                  </a:lnTo>
                  <a:lnTo>
                    <a:pt x="15472538" y="8195310"/>
                  </a:lnTo>
                  <a:lnTo>
                    <a:pt x="0" y="8195310"/>
                  </a:lnTo>
                  <a:lnTo>
                    <a:pt x="0" y="0"/>
                  </a:lnTo>
                  <a:close/>
                </a:path>
              </a:pathLst>
            </a:custGeom>
            <a:blipFill>
              <a:blip r:embed="rId3"/>
              <a:stretch>
                <a:fillRect l="0" t="-26" r="0" b="-25"/>
              </a:stretch>
            </a:blipFill>
          </p:spPr>
        </p:sp>
      </p:grpSp>
      <p:sp>
        <p:nvSpPr>
          <p:cNvPr name="TextBox 13" id="13"/>
          <p:cNvSpPr txBox="true"/>
          <p:nvPr/>
        </p:nvSpPr>
        <p:spPr>
          <a:xfrm rot="0">
            <a:off x="5117411" y="7008505"/>
            <a:ext cx="2700233" cy="365903"/>
          </a:xfrm>
          <a:prstGeom prst="rect">
            <a:avLst/>
          </a:prstGeom>
        </p:spPr>
        <p:txBody>
          <a:bodyPr anchor="t" rtlCol="false" tIns="0" lIns="0" bIns="0" rIns="0">
            <a:spAutoFit/>
          </a:bodyPr>
          <a:lstStyle/>
          <a:p>
            <a:pPr algn="r">
              <a:lnSpc>
                <a:spcPts val="2620"/>
              </a:lnSpc>
            </a:pPr>
            <a:r>
              <a:rPr lang="en-US" sz="2100">
                <a:solidFill>
                  <a:srgbClr val="FFD9BE"/>
                </a:solidFill>
                <a:latin typeface="Quattrocento"/>
                <a:ea typeface="Quattrocento"/>
                <a:cs typeface="Quattrocento"/>
                <a:sym typeface="Quattrocento"/>
              </a:rPr>
              <a:t>Client Deposits</a:t>
            </a:r>
          </a:p>
        </p:txBody>
      </p:sp>
      <p:sp>
        <p:nvSpPr>
          <p:cNvPr name="TextBox 14" id="14"/>
          <p:cNvSpPr txBox="true"/>
          <p:nvPr/>
        </p:nvSpPr>
        <p:spPr>
          <a:xfrm rot="0">
            <a:off x="4744422" y="7495480"/>
            <a:ext cx="3073222" cy="455962"/>
          </a:xfrm>
          <a:prstGeom prst="rect">
            <a:avLst/>
          </a:prstGeom>
        </p:spPr>
        <p:txBody>
          <a:bodyPr anchor="t" rtlCol="false" tIns="0" lIns="0" bIns="0" rIns="0">
            <a:spAutoFit/>
          </a:bodyPr>
          <a:lstStyle/>
          <a:p>
            <a:pPr algn="r">
              <a:lnSpc>
                <a:spcPts val="1857"/>
              </a:lnSpc>
            </a:pPr>
            <a:r>
              <a:rPr lang="en-US" sz="1800">
                <a:solidFill>
                  <a:srgbClr val="F9EEE7"/>
                </a:solidFill>
                <a:latin typeface="Quattrocento"/>
                <a:ea typeface="Quattrocento"/>
                <a:cs typeface="Quattrocento"/>
                <a:sym typeface="Quattrocento"/>
              </a:rPr>
              <a:t>Funds locked on-chain into escrow.</a:t>
            </a:r>
          </a:p>
        </p:txBody>
      </p:sp>
      <p:sp>
        <p:nvSpPr>
          <p:cNvPr name="TextBox 15" id="15"/>
          <p:cNvSpPr txBox="true"/>
          <p:nvPr/>
        </p:nvSpPr>
        <p:spPr>
          <a:xfrm rot="0">
            <a:off x="3995242" y="3454498"/>
            <a:ext cx="2700233" cy="365903"/>
          </a:xfrm>
          <a:prstGeom prst="rect">
            <a:avLst/>
          </a:prstGeom>
        </p:spPr>
        <p:txBody>
          <a:bodyPr anchor="t" rtlCol="false" tIns="0" lIns="0" bIns="0" rIns="0">
            <a:spAutoFit/>
          </a:bodyPr>
          <a:lstStyle/>
          <a:p>
            <a:pPr algn="r">
              <a:lnSpc>
                <a:spcPts val="2620"/>
              </a:lnSpc>
            </a:pPr>
            <a:r>
              <a:rPr lang="en-US" sz="2100">
                <a:solidFill>
                  <a:srgbClr val="FFD9BE"/>
                </a:solidFill>
                <a:latin typeface="Quattrocento"/>
                <a:ea typeface="Quattrocento"/>
                <a:cs typeface="Quattrocento"/>
                <a:sym typeface="Quattrocento"/>
              </a:rPr>
              <a:t>Soroban Contract</a:t>
            </a:r>
          </a:p>
        </p:txBody>
      </p:sp>
      <p:sp>
        <p:nvSpPr>
          <p:cNvPr name="TextBox 16" id="16"/>
          <p:cNvSpPr txBox="true"/>
          <p:nvPr/>
        </p:nvSpPr>
        <p:spPr>
          <a:xfrm rot="0">
            <a:off x="3622243" y="3941464"/>
            <a:ext cx="3073222" cy="455962"/>
          </a:xfrm>
          <a:prstGeom prst="rect">
            <a:avLst/>
          </a:prstGeom>
        </p:spPr>
        <p:txBody>
          <a:bodyPr anchor="t" rtlCol="false" tIns="0" lIns="0" bIns="0" rIns="0">
            <a:spAutoFit/>
          </a:bodyPr>
          <a:lstStyle/>
          <a:p>
            <a:pPr algn="r">
              <a:lnSpc>
                <a:spcPts val="1857"/>
              </a:lnSpc>
            </a:pPr>
            <a:r>
              <a:rPr lang="en-US" sz="1800">
                <a:solidFill>
                  <a:srgbClr val="F9EEE7"/>
                </a:solidFill>
                <a:latin typeface="Quattrocento"/>
                <a:ea typeface="Quattrocento"/>
                <a:cs typeface="Quattrocento"/>
                <a:sym typeface="Quattrocento"/>
              </a:rPr>
              <a:t>Immutable Rust contract holds funds securely.</a:t>
            </a:r>
          </a:p>
        </p:txBody>
      </p:sp>
      <p:sp>
        <p:nvSpPr>
          <p:cNvPr name="TextBox 17" id="17"/>
          <p:cNvSpPr txBox="true"/>
          <p:nvPr/>
        </p:nvSpPr>
        <p:spPr>
          <a:xfrm rot="0">
            <a:off x="10508313" y="3454498"/>
            <a:ext cx="2732103" cy="365903"/>
          </a:xfrm>
          <a:prstGeom prst="rect">
            <a:avLst/>
          </a:prstGeom>
        </p:spPr>
        <p:txBody>
          <a:bodyPr anchor="t" rtlCol="false" tIns="0" lIns="0" bIns="0" rIns="0">
            <a:spAutoFit/>
          </a:bodyPr>
          <a:lstStyle/>
          <a:p>
            <a:pPr algn="l">
              <a:lnSpc>
                <a:spcPts val="2620"/>
              </a:lnSpc>
            </a:pPr>
            <a:r>
              <a:rPr lang="en-US" sz="2100">
                <a:solidFill>
                  <a:srgbClr val="FFD9BE"/>
                </a:solidFill>
                <a:latin typeface="Quattrocento"/>
                <a:ea typeface="Quattrocento"/>
                <a:cs typeface="Quattrocento"/>
                <a:sym typeface="Quattrocento"/>
              </a:rPr>
              <a:t>Milestones Completed</a:t>
            </a:r>
          </a:p>
        </p:txBody>
      </p:sp>
      <p:sp>
        <p:nvSpPr>
          <p:cNvPr name="TextBox 18" id="18"/>
          <p:cNvSpPr txBox="true"/>
          <p:nvPr/>
        </p:nvSpPr>
        <p:spPr>
          <a:xfrm rot="0">
            <a:off x="10508313" y="3941464"/>
            <a:ext cx="3073222" cy="455962"/>
          </a:xfrm>
          <a:prstGeom prst="rect">
            <a:avLst/>
          </a:prstGeom>
        </p:spPr>
        <p:txBody>
          <a:bodyPr anchor="t" rtlCol="false" tIns="0" lIns="0" bIns="0" rIns="0">
            <a:spAutoFit/>
          </a:bodyPr>
          <a:lstStyle/>
          <a:p>
            <a:pPr algn="l">
              <a:lnSpc>
                <a:spcPts val="1857"/>
              </a:lnSpc>
            </a:pPr>
            <a:r>
              <a:rPr lang="en-US" sz="1800">
                <a:solidFill>
                  <a:srgbClr val="F9EEE7"/>
                </a:solidFill>
                <a:latin typeface="Quattrocento"/>
                <a:ea typeface="Quattrocento"/>
                <a:cs typeface="Quattrocento"/>
                <a:sym typeface="Quattrocento"/>
              </a:rPr>
              <a:t>Client reviews and approves work deliverables.</a:t>
            </a:r>
          </a:p>
        </p:txBody>
      </p:sp>
      <p:sp>
        <p:nvSpPr>
          <p:cNvPr name="TextBox 19" id="19"/>
          <p:cNvSpPr txBox="true"/>
          <p:nvPr/>
        </p:nvSpPr>
        <p:spPr>
          <a:xfrm rot="0">
            <a:off x="11592230" y="7008705"/>
            <a:ext cx="2700233" cy="365903"/>
          </a:xfrm>
          <a:prstGeom prst="rect">
            <a:avLst/>
          </a:prstGeom>
        </p:spPr>
        <p:txBody>
          <a:bodyPr anchor="t" rtlCol="false" tIns="0" lIns="0" bIns="0" rIns="0">
            <a:spAutoFit/>
          </a:bodyPr>
          <a:lstStyle/>
          <a:p>
            <a:pPr algn="l">
              <a:lnSpc>
                <a:spcPts val="2620"/>
              </a:lnSpc>
            </a:pPr>
            <a:r>
              <a:rPr lang="en-US" sz="2100">
                <a:solidFill>
                  <a:srgbClr val="FFD9BE"/>
                </a:solidFill>
                <a:latin typeface="Quattrocento"/>
                <a:ea typeface="Quattrocento"/>
                <a:cs typeface="Quattrocento"/>
                <a:sym typeface="Quattrocento"/>
              </a:rPr>
              <a:t>Payout or Refund</a:t>
            </a:r>
          </a:p>
        </p:txBody>
      </p:sp>
      <p:sp>
        <p:nvSpPr>
          <p:cNvPr name="TextBox 20" id="20"/>
          <p:cNvSpPr txBox="true"/>
          <p:nvPr/>
        </p:nvSpPr>
        <p:spPr>
          <a:xfrm rot="0">
            <a:off x="11592230" y="7495680"/>
            <a:ext cx="3073222" cy="455962"/>
          </a:xfrm>
          <a:prstGeom prst="rect">
            <a:avLst/>
          </a:prstGeom>
        </p:spPr>
        <p:txBody>
          <a:bodyPr anchor="t" rtlCol="false" tIns="0" lIns="0" bIns="0" rIns="0">
            <a:spAutoFit/>
          </a:bodyPr>
          <a:lstStyle/>
          <a:p>
            <a:pPr algn="l">
              <a:lnSpc>
                <a:spcPts val="1857"/>
              </a:lnSpc>
            </a:pPr>
            <a:r>
              <a:rPr lang="en-US" sz="1800">
                <a:solidFill>
                  <a:srgbClr val="F9EEE7"/>
                </a:solidFill>
                <a:latin typeface="Quattrocento"/>
                <a:ea typeface="Quattrocento"/>
                <a:cs typeface="Quattrocento"/>
                <a:sym typeface="Quattrocento"/>
              </a:rPr>
              <a:t>Instant settlement: release or refund processed.</a:t>
            </a:r>
          </a:p>
        </p:txBody>
      </p:sp>
      <p:sp>
        <p:nvSpPr>
          <p:cNvPr name="TextBox 21" id="21"/>
          <p:cNvSpPr txBox="true"/>
          <p:nvPr/>
        </p:nvSpPr>
        <p:spPr>
          <a:xfrm rot="0">
            <a:off x="2767908" y="8907066"/>
            <a:ext cx="12752194" cy="548583"/>
          </a:xfrm>
          <a:prstGeom prst="rect">
            <a:avLst/>
          </a:prstGeom>
        </p:spPr>
        <p:txBody>
          <a:bodyPr anchor="t" rtlCol="false" tIns="0" lIns="0" bIns="0" rIns="0">
            <a:spAutoFit/>
          </a:bodyPr>
          <a:lstStyle/>
          <a:p>
            <a:pPr algn="l">
              <a:lnSpc>
                <a:spcPts val="1980"/>
              </a:lnSpc>
            </a:pPr>
            <a:r>
              <a:rPr lang="en-US" sz="1500">
                <a:solidFill>
                  <a:srgbClr val="F9EEE7"/>
                </a:solidFill>
                <a:latin typeface="Quattrocento"/>
                <a:ea typeface="Quattrocento"/>
                <a:cs typeface="Quattrocento"/>
                <a:sym typeface="Quattrocento"/>
              </a:rPr>
              <a:t>Funds are secured on-chain in an immutable Rust-based smart contract on Stellar — released instantly upon milestone approval, or refunded if terms expire.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1856927" y="870194"/>
            <a:ext cx="2253853" cy="385762"/>
            <a:chOff x="0" y="0"/>
            <a:chExt cx="3005138" cy="514350"/>
          </a:xfrm>
        </p:grpSpPr>
        <p:sp>
          <p:nvSpPr>
            <p:cNvPr name="Freeform 7" id="7"/>
            <p:cNvSpPr/>
            <p:nvPr/>
          </p:nvSpPr>
          <p:spPr>
            <a:xfrm flipH="false" flipV="false" rot="0">
              <a:off x="0" y="0"/>
              <a:ext cx="3005201" cy="514350"/>
            </a:xfrm>
            <a:custGeom>
              <a:avLst/>
              <a:gdLst/>
              <a:ahLst/>
              <a:cxnLst/>
              <a:rect r="r" b="b" t="t" l="l"/>
              <a:pathLst>
                <a:path h="514350" w="3005201">
                  <a:moveTo>
                    <a:pt x="0" y="35941"/>
                  </a:moveTo>
                  <a:cubicBezTo>
                    <a:pt x="0" y="16129"/>
                    <a:pt x="16129" y="0"/>
                    <a:pt x="35941" y="0"/>
                  </a:cubicBezTo>
                  <a:lnTo>
                    <a:pt x="2969260" y="0"/>
                  </a:lnTo>
                  <a:cubicBezTo>
                    <a:pt x="2989072" y="0"/>
                    <a:pt x="3005201" y="16129"/>
                    <a:pt x="3005201" y="35941"/>
                  </a:cubicBezTo>
                  <a:lnTo>
                    <a:pt x="3005201" y="478409"/>
                  </a:lnTo>
                  <a:cubicBezTo>
                    <a:pt x="3005201" y="498221"/>
                    <a:pt x="2989072" y="514350"/>
                    <a:pt x="2969260" y="514350"/>
                  </a:cubicBezTo>
                  <a:lnTo>
                    <a:pt x="35941" y="514350"/>
                  </a:lnTo>
                  <a:cubicBezTo>
                    <a:pt x="16129" y="514350"/>
                    <a:pt x="0" y="498221"/>
                    <a:pt x="0" y="478409"/>
                  </a:cubicBezTo>
                  <a:close/>
                </a:path>
              </a:pathLst>
            </a:custGeom>
            <a:solidFill>
              <a:srgbClr val="441709"/>
            </a:solidFill>
          </p:spPr>
        </p:sp>
      </p:grpSp>
      <p:sp>
        <p:nvSpPr>
          <p:cNvPr name="TextBox 8" id="8"/>
          <p:cNvSpPr txBox="true"/>
          <p:nvPr/>
        </p:nvSpPr>
        <p:spPr>
          <a:xfrm rot="0">
            <a:off x="1991468" y="899370"/>
            <a:ext cx="2899172" cy="289322"/>
          </a:xfrm>
          <a:prstGeom prst="rect">
            <a:avLst/>
          </a:prstGeom>
        </p:spPr>
        <p:txBody>
          <a:bodyPr anchor="t" rtlCol="false" tIns="0" lIns="0" bIns="0" rIns="0">
            <a:spAutoFit/>
          </a:bodyPr>
          <a:lstStyle/>
          <a:p>
            <a:pPr algn="l">
              <a:lnSpc>
                <a:spcPts val="1965"/>
              </a:lnSpc>
            </a:pPr>
            <a:r>
              <a:rPr lang="en-US" sz="1399">
                <a:solidFill>
                  <a:srgbClr val="F9EEE7"/>
                </a:solidFill>
                <a:latin typeface="Quattrocento"/>
                <a:ea typeface="Quattrocento"/>
                <a:cs typeface="Quattrocento"/>
                <a:sym typeface="Quattrocento"/>
              </a:rPr>
              <a:t>MARKET OPPORTUNITY</a:t>
            </a:r>
          </a:p>
        </p:txBody>
      </p:sp>
      <p:sp>
        <p:nvSpPr>
          <p:cNvPr name="TextBox 9" id="9"/>
          <p:cNvSpPr txBox="true"/>
          <p:nvPr/>
        </p:nvSpPr>
        <p:spPr>
          <a:xfrm rot="0">
            <a:off x="1856927" y="1285132"/>
            <a:ext cx="9131646" cy="698154"/>
          </a:xfrm>
          <a:prstGeom prst="rect">
            <a:avLst/>
          </a:prstGeom>
        </p:spPr>
        <p:txBody>
          <a:bodyPr anchor="t" rtlCol="false" tIns="0" lIns="0" bIns="0" rIns="0">
            <a:spAutoFit/>
          </a:bodyPr>
          <a:lstStyle/>
          <a:p>
            <a:pPr algn="l">
              <a:lnSpc>
                <a:spcPts val="5116"/>
              </a:lnSpc>
            </a:pPr>
            <a:r>
              <a:rPr lang="en-US" sz="4100">
                <a:solidFill>
                  <a:srgbClr val="FFD9BE"/>
                </a:solidFill>
                <a:latin typeface="Quattrocento"/>
                <a:ea typeface="Quattrocento"/>
                <a:cs typeface="Quattrocento"/>
                <a:sym typeface="Quattrocento"/>
              </a:rPr>
              <a:t>Capturing the Global Gig Economy</a:t>
            </a:r>
          </a:p>
        </p:txBody>
      </p:sp>
      <p:grpSp>
        <p:nvGrpSpPr>
          <p:cNvPr name="Group 10" id="10"/>
          <p:cNvGrpSpPr/>
          <p:nvPr/>
        </p:nvGrpSpPr>
        <p:grpSpPr>
          <a:xfrm rot="0">
            <a:off x="1856927" y="2425008"/>
            <a:ext cx="7013229" cy="5048098"/>
            <a:chOff x="0" y="0"/>
            <a:chExt cx="9350972" cy="6730797"/>
          </a:xfrm>
        </p:grpSpPr>
        <p:sp>
          <p:nvSpPr>
            <p:cNvPr name="Freeform 11" id="11" descr="preencoded.png"/>
            <p:cNvSpPr/>
            <p:nvPr/>
          </p:nvSpPr>
          <p:spPr>
            <a:xfrm flipH="false" flipV="false" rot="0">
              <a:off x="0" y="0"/>
              <a:ext cx="9351010" cy="6730746"/>
            </a:xfrm>
            <a:custGeom>
              <a:avLst/>
              <a:gdLst/>
              <a:ahLst/>
              <a:cxnLst/>
              <a:rect r="r" b="b" t="t" l="l"/>
              <a:pathLst>
                <a:path h="6730746" w="9351010">
                  <a:moveTo>
                    <a:pt x="0" y="0"/>
                  </a:moveTo>
                  <a:lnTo>
                    <a:pt x="9351010" y="0"/>
                  </a:lnTo>
                  <a:lnTo>
                    <a:pt x="9351010" y="6730746"/>
                  </a:lnTo>
                  <a:lnTo>
                    <a:pt x="0" y="6730746"/>
                  </a:lnTo>
                  <a:lnTo>
                    <a:pt x="0" y="0"/>
                  </a:lnTo>
                  <a:close/>
                </a:path>
              </a:pathLst>
            </a:custGeom>
            <a:blipFill>
              <a:blip r:embed="rId3"/>
              <a:stretch>
                <a:fillRect l="-46" t="0" r="-45" b="0"/>
              </a:stretch>
            </a:blipFill>
          </p:spPr>
        </p:sp>
      </p:grpSp>
      <p:sp>
        <p:nvSpPr>
          <p:cNvPr name="TextBox 12" id="12"/>
          <p:cNvSpPr txBox="true"/>
          <p:nvPr/>
        </p:nvSpPr>
        <p:spPr>
          <a:xfrm rot="0">
            <a:off x="9427073" y="2384822"/>
            <a:ext cx="4061069" cy="349006"/>
          </a:xfrm>
          <a:prstGeom prst="rect">
            <a:avLst/>
          </a:prstGeom>
        </p:spPr>
        <p:txBody>
          <a:bodyPr anchor="t" rtlCol="false" tIns="0" lIns="0" bIns="0" rIns="0">
            <a:spAutoFit/>
          </a:bodyPr>
          <a:lstStyle/>
          <a:p>
            <a:pPr algn="l">
              <a:lnSpc>
                <a:spcPts val="2496"/>
              </a:lnSpc>
            </a:pPr>
            <a:r>
              <a:rPr lang="en-US" sz="2000">
                <a:solidFill>
                  <a:srgbClr val="FFD9BE"/>
                </a:solidFill>
                <a:latin typeface="Quattrocento"/>
                <a:ea typeface="Quattrocento"/>
                <a:cs typeface="Quattrocento"/>
                <a:sym typeface="Quattrocento"/>
              </a:rPr>
              <a:t>A $455 Billion Opportunity</a:t>
            </a:r>
          </a:p>
        </p:txBody>
      </p:sp>
      <p:sp>
        <p:nvSpPr>
          <p:cNvPr name="TextBox 13" id="13"/>
          <p:cNvSpPr txBox="true"/>
          <p:nvPr/>
        </p:nvSpPr>
        <p:spPr>
          <a:xfrm rot="0">
            <a:off x="9427073" y="2863901"/>
            <a:ext cx="7013229" cy="1294800"/>
          </a:xfrm>
          <a:prstGeom prst="rect">
            <a:avLst/>
          </a:prstGeom>
        </p:spPr>
        <p:txBody>
          <a:bodyPr anchor="t" rtlCol="false" tIns="0" lIns="0" bIns="0" rIns="0">
            <a:spAutoFit/>
          </a:bodyPr>
          <a:lstStyle/>
          <a:p>
            <a:pPr algn="l">
              <a:lnSpc>
                <a:spcPts val="2386"/>
              </a:lnSpc>
            </a:pPr>
            <a:r>
              <a:rPr lang="en-US" sz="1700">
                <a:solidFill>
                  <a:srgbClr val="F9EEE7"/>
                </a:solidFill>
                <a:latin typeface="Quattrocento"/>
                <a:ea typeface="Quattrocento"/>
                <a:cs typeface="Quattrocento"/>
                <a:sym typeface="Quattrocento"/>
              </a:rPr>
              <a:t>The global gig economy is expanding rapidly, yet freelancers are held back by outdated payment rails. Stellar's ultra-fast finality and microscopic fees position EscrowX to capture this massive cross-border market.</a:t>
            </a:r>
          </a:p>
        </p:txBody>
      </p:sp>
      <p:sp>
        <p:nvSpPr>
          <p:cNvPr name="Freeform 14" id="14" descr="preencoded.png"/>
          <p:cNvSpPr/>
          <p:nvPr/>
        </p:nvSpPr>
        <p:spPr>
          <a:xfrm flipH="false" flipV="false" rot="0">
            <a:off x="1828352" y="7851724"/>
            <a:ext cx="4774406" cy="1564929"/>
          </a:xfrm>
          <a:custGeom>
            <a:avLst/>
            <a:gdLst/>
            <a:ahLst/>
            <a:cxnLst/>
            <a:rect r="r" b="b" t="t" l="l"/>
            <a:pathLst>
              <a:path h="1564929" w="4774406">
                <a:moveTo>
                  <a:pt x="0" y="0"/>
                </a:moveTo>
                <a:lnTo>
                  <a:pt x="4774407" y="0"/>
                </a:lnTo>
                <a:lnTo>
                  <a:pt x="4774407" y="1564929"/>
                </a:lnTo>
                <a:lnTo>
                  <a:pt x="0" y="1564929"/>
                </a:lnTo>
                <a:lnTo>
                  <a:pt x="0" y="0"/>
                </a:lnTo>
                <a:close/>
              </a:path>
            </a:pathLst>
          </a:custGeom>
          <a:blipFill>
            <a:blip r:embed="rId4">
              <a:extLst>
                <a:ext uri="{96DAC541-7B7A-43D3-8B79-37D633B846F1}">
                  <asvg:svgBlip xmlns:asvg="http://schemas.microsoft.com/office/drawing/2016/SVG/main" r:embed="rId5"/>
                </a:ext>
              </a:extLst>
            </a:blip>
            <a:stretch>
              <a:fillRect l="0" t="-138" r="0" b="-138"/>
            </a:stretch>
          </a:blipFill>
        </p:spPr>
      </p:sp>
      <p:sp>
        <p:nvSpPr>
          <p:cNvPr name="TextBox 15" id="15"/>
          <p:cNvSpPr txBox="true"/>
          <p:nvPr/>
        </p:nvSpPr>
        <p:spPr>
          <a:xfrm rot="0">
            <a:off x="2195512" y="8085534"/>
            <a:ext cx="2640206" cy="349006"/>
          </a:xfrm>
          <a:prstGeom prst="rect">
            <a:avLst/>
          </a:prstGeom>
        </p:spPr>
        <p:txBody>
          <a:bodyPr anchor="t" rtlCol="false" tIns="0" lIns="0" bIns="0" rIns="0">
            <a:spAutoFit/>
          </a:bodyPr>
          <a:lstStyle/>
          <a:p>
            <a:pPr algn="l">
              <a:lnSpc>
                <a:spcPts val="2496"/>
              </a:lnSpc>
            </a:pPr>
            <a:r>
              <a:rPr lang="en-US" sz="2000">
                <a:solidFill>
                  <a:srgbClr val="F9EEE7"/>
                </a:solidFill>
                <a:latin typeface="Quattrocento"/>
                <a:ea typeface="Quattrocento"/>
                <a:cs typeface="Quattrocento"/>
                <a:sym typeface="Quattrocento"/>
              </a:rPr>
              <a:t>$455B by 2026</a:t>
            </a:r>
          </a:p>
        </p:txBody>
      </p:sp>
      <p:sp>
        <p:nvSpPr>
          <p:cNvPr name="TextBox 16" id="16"/>
          <p:cNvSpPr txBox="true"/>
          <p:nvPr/>
        </p:nvSpPr>
        <p:spPr>
          <a:xfrm rot="0">
            <a:off x="2195512" y="8497338"/>
            <a:ext cx="4154386" cy="666455"/>
          </a:xfrm>
          <a:prstGeom prst="rect">
            <a:avLst/>
          </a:prstGeom>
        </p:spPr>
        <p:txBody>
          <a:bodyPr anchor="t" rtlCol="false" tIns="0" lIns="0" bIns="0" rIns="0">
            <a:spAutoFit/>
          </a:bodyPr>
          <a:lstStyle/>
          <a:p>
            <a:pPr algn="l">
              <a:lnSpc>
                <a:spcPts val="2386"/>
              </a:lnSpc>
            </a:pPr>
            <a:r>
              <a:rPr lang="en-US" sz="1700">
                <a:solidFill>
                  <a:srgbClr val="F9EEE7"/>
                </a:solidFill>
                <a:latin typeface="Quattrocento"/>
                <a:ea typeface="Quattrocento"/>
                <a:cs typeface="Quattrocento"/>
                <a:sym typeface="Quattrocento"/>
              </a:rPr>
              <a:t>Projected gig economy transaction volume</a:t>
            </a:r>
          </a:p>
        </p:txBody>
      </p:sp>
      <p:sp>
        <p:nvSpPr>
          <p:cNvPr name="Freeform 17" id="17" descr="preencoded.png"/>
          <p:cNvSpPr/>
          <p:nvPr/>
        </p:nvSpPr>
        <p:spPr>
          <a:xfrm flipH="false" flipV="false" rot="0">
            <a:off x="6742357" y="7851724"/>
            <a:ext cx="4774406" cy="1564929"/>
          </a:xfrm>
          <a:custGeom>
            <a:avLst/>
            <a:gdLst/>
            <a:ahLst/>
            <a:cxnLst/>
            <a:rect r="r" b="b" t="t" l="l"/>
            <a:pathLst>
              <a:path h="1564929" w="4774406">
                <a:moveTo>
                  <a:pt x="0" y="0"/>
                </a:moveTo>
                <a:lnTo>
                  <a:pt x="4774406" y="0"/>
                </a:lnTo>
                <a:lnTo>
                  <a:pt x="4774406" y="1564929"/>
                </a:lnTo>
                <a:lnTo>
                  <a:pt x="0" y="1564929"/>
                </a:lnTo>
                <a:lnTo>
                  <a:pt x="0" y="0"/>
                </a:lnTo>
                <a:close/>
              </a:path>
            </a:pathLst>
          </a:custGeom>
          <a:blipFill>
            <a:blip r:embed="rId4">
              <a:extLst>
                <a:ext uri="{96DAC541-7B7A-43D3-8B79-37D633B846F1}">
                  <asvg:svgBlip xmlns:asvg="http://schemas.microsoft.com/office/drawing/2016/SVG/main" r:embed="rId5"/>
                </a:ext>
              </a:extLst>
            </a:blip>
            <a:stretch>
              <a:fillRect l="0" t="-138" r="0" b="-138"/>
            </a:stretch>
          </a:blipFill>
        </p:spPr>
      </p:sp>
      <p:sp>
        <p:nvSpPr>
          <p:cNvPr name="TextBox 18" id="18"/>
          <p:cNvSpPr txBox="true"/>
          <p:nvPr/>
        </p:nvSpPr>
        <p:spPr>
          <a:xfrm rot="0">
            <a:off x="7109517" y="8085534"/>
            <a:ext cx="2640206" cy="349006"/>
          </a:xfrm>
          <a:prstGeom prst="rect">
            <a:avLst/>
          </a:prstGeom>
        </p:spPr>
        <p:txBody>
          <a:bodyPr anchor="t" rtlCol="false" tIns="0" lIns="0" bIns="0" rIns="0">
            <a:spAutoFit/>
          </a:bodyPr>
          <a:lstStyle/>
          <a:p>
            <a:pPr algn="l">
              <a:lnSpc>
                <a:spcPts val="2496"/>
              </a:lnSpc>
            </a:pPr>
            <a:r>
              <a:rPr lang="en-US" sz="2000">
                <a:solidFill>
                  <a:srgbClr val="F9EEE7"/>
                </a:solidFill>
                <a:latin typeface="Quattrocento"/>
                <a:ea typeface="Quattrocento"/>
                <a:cs typeface="Quattrocento"/>
                <a:sym typeface="Quattrocento"/>
              </a:rPr>
              <a:t>50%+ Workforce</a:t>
            </a:r>
          </a:p>
        </p:txBody>
      </p:sp>
      <p:sp>
        <p:nvSpPr>
          <p:cNvPr name="TextBox 19" id="19"/>
          <p:cNvSpPr txBox="true"/>
          <p:nvPr/>
        </p:nvSpPr>
        <p:spPr>
          <a:xfrm rot="0">
            <a:off x="7109517" y="8497338"/>
            <a:ext cx="4154386" cy="352273"/>
          </a:xfrm>
          <a:prstGeom prst="rect">
            <a:avLst/>
          </a:prstGeom>
        </p:spPr>
        <p:txBody>
          <a:bodyPr anchor="t" rtlCol="false" tIns="0" lIns="0" bIns="0" rIns="0">
            <a:spAutoFit/>
          </a:bodyPr>
          <a:lstStyle/>
          <a:p>
            <a:pPr algn="l">
              <a:lnSpc>
                <a:spcPts val="2386"/>
              </a:lnSpc>
            </a:pPr>
            <a:r>
              <a:rPr lang="en-US" sz="1700">
                <a:solidFill>
                  <a:srgbClr val="F9EEE7"/>
                </a:solidFill>
                <a:latin typeface="Quattrocento"/>
                <a:ea typeface="Quattrocento"/>
                <a:cs typeface="Quattrocento"/>
                <a:sym typeface="Quattrocento"/>
              </a:rPr>
              <a:t>Expected to freelance by 2027</a:t>
            </a:r>
          </a:p>
        </p:txBody>
      </p:sp>
      <p:sp>
        <p:nvSpPr>
          <p:cNvPr name="Freeform 20" id="20" descr="preencoded.png"/>
          <p:cNvSpPr/>
          <p:nvPr/>
        </p:nvSpPr>
        <p:spPr>
          <a:xfrm flipH="false" flipV="false" rot="0">
            <a:off x="11656371" y="7851724"/>
            <a:ext cx="4774559" cy="1564929"/>
          </a:xfrm>
          <a:custGeom>
            <a:avLst/>
            <a:gdLst/>
            <a:ahLst/>
            <a:cxnLst/>
            <a:rect r="r" b="b" t="t" l="l"/>
            <a:pathLst>
              <a:path h="1564929" w="4774559">
                <a:moveTo>
                  <a:pt x="0" y="0"/>
                </a:moveTo>
                <a:lnTo>
                  <a:pt x="4774559" y="0"/>
                </a:lnTo>
                <a:lnTo>
                  <a:pt x="4774559" y="1564929"/>
                </a:lnTo>
                <a:lnTo>
                  <a:pt x="0" y="1564929"/>
                </a:lnTo>
                <a:lnTo>
                  <a:pt x="0" y="0"/>
                </a:lnTo>
                <a:close/>
              </a:path>
            </a:pathLst>
          </a:custGeom>
          <a:blipFill>
            <a:blip r:embed="rId4">
              <a:extLst>
                <a:ext uri="{96DAC541-7B7A-43D3-8B79-37D633B846F1}">
                  <asvg:svgBlip xmlns:asvg="http://schemas.microsoft.com/office/drawing/2016/SVG/main" r:embed="rId5"/>
                </a:ext>
              </a:extLst>
            </a:blip>
            <a:stretch>
              <a:fillRect l="0" t="-140" r="0" b="-140"/>
            </a:stretch>
          </a:blipFill>
        </p:spPr>
      </p:sp>
      <p:sp>
        <p:nvSpPr>
          <p:cNvPr name="TextBox 21" id="21"/>
          <p:cNvSpPr txBox="true"/>
          <p:nvPr/>
        </p:nvSpPr>
        <p:spPr>
          <a:xfrm rot="0">
            <a:off x="12023522" y="8085534"/>
            <a:ext cx="2640206" cy="349006"/>
          </a:xfrm>
          <a:prstGeom prst="rect">
            <a:avLst/>
          </a:prstGeom>
        </p:spPr>
        <p:txBody>
          <a:bodyPr anchor="t" rtlCol="false" tIns="0" lIns="0" bIns="0" rIns="0">
            <a:spAutoFit/>
          </a:bodyPr>
          <a:lstStyle/>
          <a:p>
            <a:pPr algn="l">
              <a:lnSpc>
                <a:spcPts val="2496"/>
              </a:lnSpc>
            </a:pPr>
            <a:r>
              <a:rPr lang="en-US" sz="2000">
                <a:solidFill>
                  <a:srgbClr val="F9EEE7"/>
                </a:solidFill>
                <a:latin typeface="Quattrocento"/>
                <a:ea typeface="Quattrocento"/>
                <a:cs typeface="Quattrocento"/>
                <a:sym typeface="Quattrocento"/>
              </a:rPr>
              <a:t>Under 5 Seconds</a:t>
            </a:r>
          </a:p>
        </p:txBody>
      </p:sp>
      <p:sp>
        <p:nvSpPr>
          <p:cNvPr name="TextBox 22" id="22"/>
          <p:cNvSpPr txBox="true"/>
          <p:nvPr/>
        </p:nvSpPr>
        <p:spPr>
          <a:xfrm rot="0">
            <a:off x="12023522" y="8497338"/>
            <a:ext cx="4154538" cy="666455"/>
          </a:xfrm>
          <a:prstGeom prst="rect">
            <a:avLst/>
          </a:prstGeom>
        </p:spPr>
        <p:txBody>
          <a:bodyPr anchor="t" rtlCol="false" tIns="0" lIns="0" bIns="0" rIns="0">
            <a:spAutoFit/>
          </a:bodyPr>
          <a:lstStyle/>
          <a:p>
            <a:pPr algn="l">
              <a:lnSpc>
                <a:spcPts val="2386"/>
              </a:lnSpc>
            </a:pPr>
            <a:r>
              <a:rPr lang="en-US" sz="1700">
                <a:solidFill>
                  <a:srgbClr val="F9EEE7"/>
                </a:solidFill>
                <a:latin typeface="Quattrocento"/>
                <a:ea typeface="Quattrocento"/>
                <a:cs typeface="Quattrocento"/>
                <a:sym typeface="Quattrocento"/>
              </a:rPr>
              <a:t>Stellar transaction finality — ideal for micro-payments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2008737" y="864546"/>
            <a:ext cx="1559719" cy="375342"/>
            <a:chOff x="0" y="0"/>
            <a:chExt cx="2079625" cy="500456"/>
          </a:xfrm>
        </p:grpSpPr>
        <p:sp>
          <p:nvSpPr>
            <p:cNvPr name="Freeform 7" id="7"/>
            <p:cNvSpPr/>
            <p:nvPr/>
          </p:nvSpPr>
          <p:spPr>
            <a:xfrm flipH="false" flipV="false" rot="0">
              <a:off x="0" y="0"/>
              <a:ext cx="2079625" cy="500507"/>
            </a:xfrm>
            <a:custGeom>
              <a:avLst/>
              <a:gdLst/>
              <a:ahLst/>
              <a:cxnLst/>
              <a:rect r="r" b="b" t="t" l="l"/>
              <a:pathLst>
                <a:path h="500507" w="2079625">
                  <a:moveTo>
                    <a:pt x="0" y="35179"/>
                  </a:moveTo>
                  <a:cubicBezTo>
                    <a:pt x="0" y="15748"/>
                    <a:pt x="15748" y="0"/>
                    <a:pt x="35179" y="0"/>
                  </a:cubicBezTo>
                  <a:lnTo>
                    <a:pt x="2044446" y="0"/>
                  </a:lnTo>
                  <a:cubicBezTo>
                    <a:pt x="2063877" y="0"/>
                    <a:pt x="2079625" y="15748"/>
                    <a:pt x="2079625" y="35179"/>
                  </a:cubicBezTo>
                  <a:lnTo>
                    <a:pt x="2079625" y="465328"/>
                  </a:lnTo>
                  <a:cubicBezTo>
                    <a:pt x="2079625" y="484759"/>
                    <a:pt x="2063877" y="500507"/>
                    <a:pt x="2044446" y="500507"/>
                  </a:cubicBezTo>
                  <a:lnTo>
                    <a:pt x="35179" y="500507"/>
                  </a:lnTo>
                  <a:cubicBezTo>
                    <a:pt x="15748" y="500507"/>
                    <a:pt x="0" y="484759"/>
                    <a:pt x="0" y="465328"/>
                  </a:cubicBezTo>
                  <a:close/>
                </a:path>
              </a:pathLst>
            </a:custGeom>
            <a:solidFill>
              <a:srgbClr val="441709"/>
            </a:solidFill>
          </p:spPr>
        </p:sp>
      </p:grpSp>
      <p:sp>
        <p:nvSpPr>
          <p:cNvPr name="TextBox 8" id="8"/>
          <p:cNvSpPr txBox="true"/>
          <p:nvPr/>
        </p:nvSpPr>
        <p:spPr>
          <a:xfrm rot="0">
            <a:off x="2140448" y="901751"/>
            <a:ext cx="2210695" cy="272358"/>
          </a:xfrm>
          <a:prstGeom prst="rect">
            <a:avLst/>
          </a:prstGeom>
        </p:spPr>
        <p:txBody>
          <a:bodyPr anchor="t" rtlCol="false" tIns="0" lIns="0" bIns="0" rIns="0">
            <a:spAutoFit/>
          </a:bodyPr>
          <a:lstStyle/>
          <a:p>
            <a:pPr algn="l">
              <a:lnSpc>
                <a:spcPts val="1809"/>
              </a:lnSpc>
            </a:pPr>
            <a:r>
              <a:rPr lang="en-US" sz="1300">
                <a:solidFill>
                  <a:srgbClr val="F9EEE7"/>
                </a:solidFill>
                <a:latin typeface="Quattrocento"/>
                <a:ea typeface="Quattrocento"/>
                <a:cs typeface="Quattrocento"/>
                <a:sym typeface="Quattrocento"/>
              </a:rPr>
              <a:t>ARCHITECTURE</a:t>
            </a:r>
          </a:p>
        </p:txBody>
      </p:sp>
      <p:sp>
        <p:nvSpPr>
          <p:cNvPr name="TextBox 9" id="9"/>
          <p:cNvSpPr txBox="true"/>
          <p:nvPr/>
        </p:nvSpPr>
        <p:spPr>
          <a:xfrm rot="0">
            <a:off x="2008737" y="1275759"/>
            <a:ext cx="8677570" cy="674789"/>
          </a:xfrm>
          <a:prstGeom prst="rect">
            <a:avLst/>
          </a:prstGeom>
        </p:spPr>
        <p:txBody>
          <a:bodyPr anchor="t" rtlCol="false" tIns="0" lIns="0" bIns="0" rIns="0">
            <a:spAutoFit/>
          </a:bodyPr>
          <a:lstStyle/>
          <a:p>
            <a:pPr algn="l">
              <a:lnSpc>
                <a:spcPts val="4992"/>
              </a:lnSpc>
            </a:pPr>
            <a:r>
              <a:rPr lang="en-US" sz="4000">
                <a:solidFill>
                  <a:srgbClr val="FFD9BE"/>
                </a:solidFill>
                <a:latin typeface="Quattrocento"/>
                <a:ea typeface="Quattrocento"/>
                <a:cs typeface="Quattrocento"/>
                <a:sym typeface="Quattrocento"/>
              </a:rPr>
              <a:t>Robust, Decentralized &amp; Resilient</a:t>
            </a:r>
          </a:p>
        </p:txBody>
      </p:sp>
      <p:grpSp>
        <p:nvGrpSpPr>
          <p:cNvPr name="Group 10" id="10"/>
          <p:cNvGrpSpPr/>
          <p:nvPr/>
        </p:nvGrpSpPr>
        <p:grpSpPr>
          <a:xfrm rot="0">
            <a:off x="2008737" y="2373954"/>
            <a:ext cx="6867077" cy="6867077"/>
            <a:chOff x="0" y="0"/>
            <a:chExt cx="9156103" cy="9156103"/>
          </a:xfrm>
        </p:grpSpPr>
        <p:sp>
          <p:nvSpPr>
            <p:cNvPr name="Freeform 11" id="11" descr="preencoded.png"/>
            <p:cNvSpPr/>
            <p:nvPr/>
          </p:nvSpPr>
          <p:spPr>
            <a:xfrm flipH="false" flipV="false" rot="0">
              <a:off x="0" y="0"/>
              <a:ext cx="9156065" cy="9156065"/>
            </a:xfrm>
            <a:custGeom>
              <a:avLst/>
              <a:gdLst/>
              <a:ahLst/>
              <a:cxnLst/>
              <a:rect r="r" b="b" t="t" l="l"/>
              <a:pathLst>
                <a:path h="9156065" w="9156065">
                  <a:moveTo>
                    <a:pt x="0" y="0"/>
                  </a:moveTo>
                  <a:lnTo>
                    <a:pt x="9156065" y="0"/>
                  </a:lnTo>
                  <a:lnTo>
                    <a:pt x="9156065" y="9156065"/>
                  </a:lnTo>
                  <a:lnTo>
                    <a:pt x="0" y="9156065"/>
                  </a:lnTo>
                  <a:lnTo>
                    <a:pt x="0" y="0"/>
                  </a:lnTo>
                  <a:close/>
                </a:path>
              </a:pathLst>
            </a:custGeom>
            <a:blipFill>
              <a:blip r:embed="rId3"/>
              <a:stretch>
                <a:fillRect l="0" t="0" r="0" b="0"/>
              </a:stretch>
            </a:blipFill>
          </p:spPr>
        </p:sp>
      </p:grpSp>
      <p:sp>
        <p:nvSpPr>
          <p:cNvPr name="TextBox 12" id="12"/>
          <p:cNvSpPr txBox="true"/>
          <p:nvPr/>
        </p:nvSpPr>
        <p:spPr>
          <a:xfrm rot="0">
            <a:off x="9421416" y="4251122"/>
            <a:ext cx="4081462" cy="342157"/>
          </a:xfrm>
          <a:prstGeom prst="rect">
            <a:avLst/>
          </a:prstGeom>
        </p:spPr>
        <p:txBody>
          <a:bodyPr anchor="t" rtlCol="false" tIns="0" lIns="0" bIns="0" rIns="0">
            <a:spAutoFit/>
          </a:bodyPr>
          <a:lstStyle/>
          <a:p>
            <a:pPr algn="l">
              <a:lnSpc>
                <a:spcPts val="2496"/>
              </a:lnSpc>
            </a:pPr>
            <a:r>
              <a:rPr lang="en-US" sz="2000">
                <a:solidFill>
                  <a:srgbClr val="FFD9BE"/>
                </a:solidFill>
                <a:latin typeface="Quattrocento"/>
                <a:ea typeface="Quattrocento"/>
                <a:cs typeface="Quattrocento"/>
                <a:sym typeface="Quattrocento"/>
              </a:rPr>
              <a:t>Institutional-Grade Uptime</a:t>
            </a:r>
          </a:p>
        </p:txBody>
      </p:sp>
      <p:sp>
        <p:nvSpPr>
          <p:cNvPr name="TextBox 13" id="13"/>
          <p:cNvSpPr txBox="true"/>
          <p:nvPr/>
        </p:nvSpPr>
        <p:spPr>
          <a:xfrm rot="0">
            <a:off x="9421416" y="4716513"/>
            <a:ext cx="6867077" cy="952052"/>
          </a:xfrm>
          <a:prstGeom prst="rect">
            <a:avLst/>
          </a:prstGeom>
        </p:spPr>
        <p:txBody>
          <a:bodyPr anchor="t" rtlCol="false" tIns="0" lIns="0" bIns="0" rIns="0">
            <a:spAutoFit/>
          </a:bodyPr>
          <a:lstStyle/>
          <a:p>
            <a:pPr algn="l">
              <a:lnSpc>
                <a:spcPts val="2366"/>
              </a:lnSpc>
            </a:pPr>
            <a:r>
              <a:rPr lang="en-US" sz="1700">
                <a:solidFill>
                  <a:srgbClr val="F9EEE7"/>
                </a:solidFill>
                <a:latin typeface="Quattrocento"/>
                <a:ea typeface="Quattrocento"/>
                <a:cs typeface="Quattrocento"/>
                <a:sym typeface="Quattrocento"/>
              </a:rPr>
              <a:t>EscrowX features a highly resilient hybrid architecture. While Supabase caches metadata, the core application never depends on a single server.</a:t>
            </a:r>
          </a:p>
        </p:txBody>
      </p:sp>
      <p:sp>
        <p:nvSpPr>
          <p:cNvPr name="TextBox 14" id="14"/>
          <p:cNvSpPr txBox="true"/>
          <p:nvPr/>
        </p:nvSpPr>
        <p:spPr>
          <a:xfrm rot="0">
            <a:off x="9421416" y="5775569"/>
            <a:ext cx="6867077" cy="1674171"/>
          </a:xfrm>
          <a:prstGeom prst="rect">
            <a:avLst/>
          </a:prstGeom>
        </p:spPr>
        <p:txBody>
          <a:bodyPr anchor="t" rtlCol="false" tIns="0" lIns="0" bIns="0" rIns="0">
            <a:spAutoFit/>
          </a:bodyPr>
          <a:lstStyle/>
          <a:p>
            <a:pPr algn="l" marL="410210" indent="-205105" lvl="1">
              <a:lnSpc>
                <a:spcPts val="2366"/>
              </a:lnSpc>
              <a:buFont typeface="Arial"/>
              <a:buChar char="•"/>
            </a:pPr>
            <a:r>
              <a:rPr lang="en-US" b="true" sz="1700">
                <a:solidFill>
                  <a:srgbClr val="F9EEE7"/>
                </a:solidFill>
                <a:latin typeface="Quattrocento Bold"/>
                <a:ea typeface="Quattrocento Bold"/>
                <a:cs typeface="Quattrocento Bold"/>
                <a:sym typeface="Quattrocento Bold"/>
              </a:rPr>
              <a:t>Soroban Rust Contracts</a:t>
            </a:r>
            <a:r>
              <a:rPr lang="en-US" sz="1700">
                <a:solidFill>
                  <a:srgbClr val="F9EEE7"/>
                </a:solidFill>
                <a:latin typeface="Quattrocento"/>
                <a:ea typeface="Quattrocento"/>
                <a:cs typeface="Quattrocento"/>
                <a:sym typeface="Quattrocento"/>
              </a:rPr>
              <a:t> manage state and native XLM tokens on-chain</a:t>
            </a:r>
          </a:p>
          <a:p>
            <a:pPr algn="l" marL="410210" indent="-205105" lvl="1">
              <a:lnSpc>
                <a:spcPts val="2366"/>
              </a:lnSpc>
              <a:buFont typeface="Arial"/>
              <a:buChar char="•"/>
            </a:pPr>
            <a:r>
              <a:rPr lang="en-US" b="true" sz="1700">
                <a:solidFill>
                  <a:srgbClr val="F9EEE7"/>
                </a:solidFill>
                <a:latin typeface="Quattrocento Bold"/>
                <a:ea typeface="Quattrocento Bold"/>
                <a:cs typeface="Quattrocento Bold"/>
                <a:sym typeface="Quattrocento Bold"/>
              </a:rPr>
              <a:t>Freighter Wallet</a:t>
            </a:r>
            <a:r>
              <a:rPr lang="en-US" sz="1700">
                <a:solidFill>
                  <a:srgbClr val="F9EEE7"/>
                </a:solidFill>
                <a:latin typeface="Quattrocento"/>
                <a:ea typeface="Quattrocento"/>
                <a:cs typeface="Quattrocento"/>
                <a:sym typeface="Quattrocento"/>
              </a:rPr>
              <a:t> enables seamless browser-based signing</a:t>
            </a:r>
          </a:p>
          <a:p>
            <a:pPr algn="l" marL="410210" indent="-205105" lvl="1">
              <a:lnSpc>
                <a:spcPts val="2366"/>
              </a:lnSpc>
              <a:buFont typeface="Arial"/>
              <a:buChar char="•"/>
            </a:pPr>
            <a:r>
              <a:rPr lang="en-US" b="true" sz="1700">
                <a:solidFill>
                  <a:srgbClr val="F9EEE7"/>
                </a:solidFill>
                <a:latin typeface="Quattrocento Bold"/>
                <a:ea typeface="Quattrocento Bold"/>
                <a:cs typeface="Quattrocento Bold"/>
                <a:sym typeface="Quattrocento Bold"/>
              </a:rPr>
              <a:t>Direct Ledger Fallback</a:t>
            </a:r>
            <a:r>
              <a:rPr lang="en-US" sz="1700">
                <a:solidFill>
                  <a:srgbClr val="F9EEE7"/>
                </a:solidFill>
                <a:latin typeface="Quattrocento"/>
                <a:ea typeface="Quattrocento"/>
                <a:cs typeface="Quattrocento"/>
                <a:sym typeface="Quattrocento"/>
              </a:rPr>
              <a:t> — if cache is cleared, the app queries Stellar directly to reconstruct the full dashboard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grpSp>
        <p:nvGrpSpPr>
          <p:cNvPr name="Group 8" id="8"/>
          <p:cNvGrpSpPr/>
          <p:nvPr/>
        </p:nvGrpSpPr>
        <p:grpSpPr>
          <a:xfrm rot="0">
            <a:off x="7905150" y="823322"/>
            <a:ext cx="1411491" cy="417014"/>
            <a:chOff x="0" y="0"/>
            <a:chExt cx="1881988" cy="556019"/>
          </a:xfrm>
        </p:grpSpPr>
        <p:sp>
          <p:nvSpPr>
            <p:cNvPr name="Freeform 9" id="9"/>
            <p:cNvSpPr/>
            <p:nvPr/>
          </p:nvSpPr>
          <p:spPr>
            <a:xfrm flipH="false" flipV="false" rot="0">
              <a:off x="0" y="0"/>
              <a:ext cx="1881886" cy="556006"/>
            </a:xfrm>
            <a:custGeom>
              <a:avLst/>
              <a:gdLst/>
              <a:ahLst/>
              <a:cxnLst/>
              <a:rect r="r" b="b" t="t" l="l"/>
              <a:pathLst>
                <a:path h="556006" w="1881886">
                  <a:moveTo>
                    <a:pt x="0" y="38100"/>
                  </a:moveTo>
                  <a:cubicBezTo>
                    <a:pt x="0" y="17018"/>
                    <a:pt x="17018" y="0"/>
                    <a:pt x="38100" y="0"/>
                  </a:cubicBezTo>
                  <a:lnTo>
                    <a:pt x="1843786" y="0"/>
                  </a:lnTo>
                  <a:cubicBezTo>
                    <a:pt x="1864868" y="0"/>
                    <a:pt x="1881886" y="17018"/>
                    <a:pt x="1881886" y="38100"/>
                  </a:cubicBezTo>
                  <a:lnTo>
                    <a:pt x="1881886" y="517906"/>
                  </a:lnTo>
                  <a:cubicBezTo>
                    <a:pt x="1881886" y="538988"/>
                    <a:pt x="1864868" y="556006"/>
                    <a:pt x="1843786" y="556006"/>
                  </a:cubicBezTo>
                  <a:lnTo>
                    <a:pt x="38100" y="556006"/>
                  </a:lnTo>
                  <a:cubicBezTo>
                    <a:pt x="17018" y="556006"/>
                    <a:pt x="0" y="538988"/>
                    <a:pt x="0" y="517906"/>
                  </a:cubicBezTo>
                  <a:close/>
                </a:path>
              </a:pathLst>
            </a:custGeom>
            <a:solidFill>
              <a:srgbClr val="441709"/>
            </a:solidFill>
          </p:spPr>
        </p:sp>
      </p:grpSp>
      <p:sp>
        <p:nvSpPr>
          <p:cNvPr name="TextBox 10" id="10"/>
          <p:cNvSpPr txBox="true"/>
          <p:nvPr/>
        </p:nvSpPr>
        <p:spPr>
          <a:xfrm rot="0">
            <a:off x="8048177" y="847125"/>
            <a:ext cx="2039836" cy="321764"/>
          </a:xfrm>
          <a:prstGeom prst="rect">
            <a:avLst/>
          </a:prstGeom>
        </p:spPr>
        <p:txBody>
          <a:bodyPr anchor="t" rtlCol="false" tIns="0" lIns="0" bIns="0" rIns="0">
            <a:spAutoFit/>
          </a:bodyPr>
          <a:lstStyle/>
          <a:p>
            <a:pPr algn="l">
              <a:lnSpc>
                <a:spcPts val="2160"/>
              </a:lnSpc>
            </a:pPr>
            <a:r>
              <a:rPr lang="en-US" sz="1500">
                <a:solidFill>
                  <a:srgbClr val="F9EEE7"/>
                </a:solidFill>
                <a:latin typeface="Quattrocento"/>
                <a:ea typeface="Quattrocento"/>
                <a:cs typeface="Quattrocento"/>
                <a:sym typeface="Quattrocento"/>
              </a:rPr>
              <a:t>VALIDATION</a:t>
            </a:r>
          </a:p>
        </p:txBody>
      </p:sp>
      <p:sp>
        <p:nvSpPr>
          <p:cNvPr name="TextBox 11" id="11"/>
          <p:cNvSpPr txBox="true"/>
          <p:nvPr/>
        </p:nvSpPr>
        <p:spPr>
          <a:xfrm rot="0">
            <a:off x="7905150" y="1297191"/>
            <a:ext cx="9335691" cy="1421606"/>
          </a:xfrm>
          <a:prstGeom prst="rect">
            <a:avLst/>
          </a:prstGeom>
        </p:spPr>
        <p:txBody>
          <a:bodyPr anchor="t" rtlCol="false" tIns="0" lIns="0" bIns="0" rIns="0">
            <a:spAutoFit/>
          </a:bodyPr>
          <a:lstStyle/>
          <a:p>
            <a:pPr algn="l">
              <a:lnSpc>
                <a:spcPts val="5491"/>
              </a:lnSpc>
            </a:pPr>
            <a:r>
              <a:rPr lang="en-US" sz="4400">
                <a:solidFill>
                  <a:srgbClr val="FFD9BE"/>
                </a:solidFill>
                <a:latin typeface="Quattrocento"/>
                <a:ea typeface="Quattrocento"/>
                <a:cs typeface="Quattrocento"/>
                <a:sym typeface="Quattrocento"/>
              </a:rPr>
              <a:t>On-Chain Validation &amp; Active Growth</a:t>
            </a:r>
          </a:p>
        </p:txBody>
      </p:sp>
      <p:sp>
        <p:nvSpPr>
          <p:cNvPr name="TextBox 12" id="12"/>
          <p:cNvSpPr txBox="true"/>
          <p:nvPr/>
        </p:nvSpPr>
        <p:spPr>
          <a:xfrm rot="0">
            <a:off x="7905150" y="2956169"/>
            <a:ext cx="10250091" cy="390230"/>
          </a:xfrm>
          <a:prstGeom prst="rect">
            <a:avLst/>
          </a:prstGeom>
        </p:spPr>
        <p:txBody>
          <a:bodyPr anchor="t" rtlCol="false" tIns="0" lIns="0" bIns="0" rIns="0">
            <a:spAutoFit/>
          </a:bodyPr>
          <a:lstStyle/>
          <a:p>
            <a:pPr algn="l">
              <a:lnSpc>
                <a:spcPts val="2592"/>
              </a:lnSpc>
            </a:pPr>
            <a:r>
              <a:rPr lang="en-US" sz="1800">
                <a:solidFill>
                  <a:srgbClr val="F9EEE7"/>
                </a:solidFill>
                <a:latin typeface="Quattrocento"/>
                <a:ea typeface="Quattrocento"/>
                <a:cs typeface="Quattrocento"/>
                <a:sym typeface="Quattrocento"/>
              </a:rPr>
              <a:t>We didn't just build a prototype — we validated it with real users on the Stellar testnet.</a:t>
            </a:r>
          </a:p>
        </p:txBody>
      </p:sp>
      <p:sp>
        <p:nvSpPr>
          <p:cNvPr name="TextBox 13" id="13"/>
          <p:cNvSpPr txBox="true"/>
          <p:nvPr/>
        </p:nvSpPr>
        <p:spPr>
          <a:xfrm rot="0">
            <a:off x="7905150" y="3784102"/>
            <a:ext cx="9335691" cy="682076"/>
          </a:xfrm>
          <a:prstGeom prst="rect">
            <a:avLst/>
          </a:prstGeom>
        </p:spPr>
        <p:txBody>
          <a:bodyPr anchor="t" rtlCol="false" tIns="0" lIns="0" bIns="0" rIns="0">
            <a:spAutoFit/>
          </a:bodyPr>
          <a:lstStyle/>
          <a:p>
            <a:pPr algn="ctr">
              <a:lnSpc>
                <a:spcPts val="6075"/>
              </a:lnSpc>
            </a:pPr>
            <a:r>
              <a:rPr lang="en-US" sz="6100">
                <a:solidFill>
                  <a:srgbClr val="F9EEE7"/>
                </a:solidFill>
                <a:latin typeface="Quattrocento"/>
                <a:ea typeface="Quattrocento"/>
                <a:cs typeface="Quattrocento"/>
                <a:sym typeface="Quattrocento"/>
              </a:rPr>
              <a:t>50</a:t>
            </a:r>
          </a:p>
        </p:txBody>
      </p:sp>
      <p:sp>
        <p:nvSpPr>
          <p:cNvPr name="TextBox 14" id="14"/>
          <p:cNvSpPr txBox="true"/>
          <p:nvPr/>
        </p:nvSpPr>
        <p:spPr>
          <a:xfrm rot="0">
            <a:off x="11170444" y="4708769"/>
            <a:ext cx="2805112" cy="369694"/>
          </a:xfrm>
          <a:prstGeom prst="rect">
            <a:avLst/>
          </a:prstGeom>
        </p:spPr>
        <p:txBody>
          <a:bodyPr anchor="t" rtlCol="false" tIns="0" lIns="0" bIns="0" rIns="0">
            <a:spAutoFit/>
          </a:bodyPr>
          <a:lstStyle/>
          <a:p>
            <a:pPr algn="ctr">
              <a:lnSpc>
                <a:spcPts val="2745"/>
              </a:lnSpc>
            </a:pPr>
            <a:r>
              <a:rPr lang="en-US" sz="2200">
                <a:solidFill>
                  <a:srgbClr val="F9EEE7"/>
                </a:solidFill>
                <a:latin typeface="Quattrocento"/>
                <a:ea typeface="Quattrocento"/>
                <a:cs typeface="Quattrocento"/>
                <a:sym typeface="Quattrocento"/>
              </a:rPr>
              <a:t>On-Chain Users</a:t>
            </a:r>
          </a:p>
        </p:txBody>
      </p:sp>
      <p:sp>
        <p:nvSpPr>
          <p:cNvPr name="TextBox 15" id="15"/>
          <p:cNvSpPr txBox="true"/>
          <p:nvPr/>
        </p:nvSpPr>
        <p:spPr>
          <a:xfrm rot="0">
            <a:off x="7905150" y="5144843"/>
            <a:ext cx="9335691" cy="390230"/>
          </a:xfrm>
          <a:prstGeom prst="rect">
            <a:avLst/>
          </a:prstGeom>
        </p:spPr>
        <p:txBody>
          <a:bodyPr anchor="t" rtlCol="false" tIns="0" lIns="0" bIns="0" rIns="0">
            <a:spAutoFit/>
          </a:bodyPr>
          <a:lstStyle/>
          <a:p>
            <a:pPr algn="ctr">
              <a:lnSpc>
                <a:spcPts val="2592"/>
              </a:lnSpc>
            </a:pPr>
            <a:r>
              <a:rPr lang="en-US" sz="1800">
                <a:solidFill>
                  <a:srgbClr val="F9EEE7"/>
                </a:solidFill>
                <a:latin typeface="Quattrocento"/>
                <a:ea typeface="Quattrocento"/>
                <a:cs typeface="Quattrocento"/>
                <a:sym typeface="Quattrocento"/>
              </a:rPr>
              <a:t>Unique testnet wallets funded via Stellar Friendbot</a:t>
            </a:r>
          </a:p>
        </p:txBody>
      </p:sp>
      <p:sp>
        <p:nvSpPr>
          <p:cNvPr name="TextBox 16" id="16"/>
          <p:cNvSpPr txBox="true"/>
          <p:nvPr/>
        </p:nvSpPr>
        <p:spPr>
          <a:xfrm rot="0">
            <a:off x="7905150" y="6139015"/>
            <a:ext cx="9335691" cy="682076"/>
          </a:xfrm>
          <a:prstGeom prst="rect">
            <a:avLst/>
          </a:prstGeom>
        </p:spPr>
        <p:txBody>
          <a:bodyPr anchor="t" rtlCol="false" tIns="0" lIns="0" bIns="0" rIns="0">
            <a:spAutoFit/>
          </a:bodyPr>
          <a:lstStyle/>
          <a:p>
            <a:pPr algn="ctr">
              <a:lnSpc>
                <a:spcPts val="6075"/>
              </a:lnSpc>
            </a:pPr>
            <a:r>
              <a:rPr lang="en-US" sz="6100">
                <a:solidFill>
                  <a:srgbClr val="F9EEE7"/>
                </a:solidFill>
                <a:latin typeface="Quattrocento"/>
                <a:ea typeface="Quattrocento"/>
                <a:cs typeface="Quattrocento"/>
                <a:sym typeface="Quattrocento"/>
              </a:rPr>
              <a:t>55</a:t>
            </a:r>
          </a:p>
        </p:txBody>
      </p:sp>
      <p:sp>
        <p:nvSpPr>
          <p:cNvPr name="TextBox 17" id="17"/>
          <p:cNvSpPr txBox="true"/>
          <p:nvPr/>
        </p:nvSpPr>
        <p:spPr>
          <a:xfrm rot="0">
            <a:off x="11170444" y="7063683"/>
            <a:ext cx="2805112" cy="369694"/>
          </a:xfrm>
          <a:prstGeom prst="rect">
            <a:avLst/>
          </a:prstGeom>
        </p:spPr>
        <p:txBody>
          <a:bodyPr anchor="t" rtlCol="false" tIns="0" lIns="0" bIns="0" rIns="0">
            <a:spAutoFit/>
          </a:bodyPr>
          <a:lstStyle/>
          <a:p>
            <a:pPr algn="ctr">
              <a:lnSpc>
                <a:spcPts val="2745"/>
              </a:lnSpc>
            </a:pPr>
            <a:r>
              <a:rPr lang="en-US" sz="2200">
                <a:solidFill>
                  <a:srgbClr val="F9EEE7"/>
                </a:solidFill>
                <a:latin typeface="Quattrocento"/>
                <a:ea typeface="Quattrocento"/>
                <a:cs typeface="Quattrocento"/>
                <a:sym typeface="Quattrocento"/>
              </a:rPr>
              <a:t>Contracts Executed</a:t>
            </a:r>
          </a:p>
        </p:txBody>
      </p:sp>
      <p:sp>
        <p:nvSpPr>
          <p:cNvPr name="TextBox 18" id="18"/>
          <p:cNvSpPr txBox="true"/>
          <p:nvPr/>
        </p:nvSpPr>
        <p:spPr>
          <a:xfrm rot="0">
            <a:off x="7905150" y="7499747"/>
            <a:ext cx="9335691" cy="390230"/>
          </a:xfrm>
          <a:prstGeom prst="rect">
            <a:avLst/>
          </a:prstGeom>
        </p:spPr>
        <p:txBody>
          <a:bodyPr anchor="t" rtlCol="false" tIns="0" lIns="0" bIns="0" rIns="0">
            <a:spAutoFit/>
          </a:bodyPr>
          <a:lstStyle/>
          <a:p>
            <a:pPr algn="ctr">
              <a:lnSpc>
                <a:spcPts val="2592"/>
              </a:lnSpc>
            </a:pPr>
            <a:r>
              <a:rPr lang="en-US" sz="1800">
                <a:solidFill>
                  <a:srgbClr val="F9EEE7"/>
                </a:solidFill>
                <a:latin typeface="Quattrocento"/>
                <a:ea typeface="Quattrocento"/>
                <a:cs typeface="Quattrocento"/>
                <a:sym typeface="Quattrocento"/>
              </a:rPr>
              <a:t>Real transactions ranging from 50 to 1,000 XLM</a:t>
            </a:r>
          </a:p>
        </p:txBody>
      </p:sp>
      <p:grpSp>
        <p:nvGrpSpPr>
          <p:cNvPr name="Group 19" id="19"/>
          <p:cNvGrpSpPr/>
          <p:nvPr/>
        </p:nvGrpSpPr>
        <p:grpSpPr>
          <a:xfrm rot="0">
            <a:off x="7905150" y="8103689"/>
            <a:ext cx="9335691" cy="1146277"/>
            <a:chOff x="0" y="0"/>
            <a:chExt cx="12447588" cy="1528369"/>
          </a:xfrm>
        </p:grpSpPr>
        <p:sp>
          <p:nvSpPr>
            <p:cNvPr name="Freeform 20" id="20"/>
            <p:cNvSpPr/>
            <p:nvPr/>
          </p:nvSpPr>
          <p:spPr>
            <a:xfrm flipH="false" flipV="false" rot="0">
              <a:off x="0" y="0"/>
              <a:ext cx="12447524" cy="1528318"/>
            </a:xfrm>
            <a:custGeom>
              <a:avLst/>
              <a:gdLst/>
              <a:ahLst/>
              <a:cxnLst/>
              <a:rect r="r" b="b" t="t" l="l"/>
              <a:pathLst>
                <a:path h="1528318" w="12447524">
                  <a:moveTo>
                    <a:pt x="0" y="47625"/>
                  </a:moveTo>
                  <a:cubicBezTo>
                    <a:pt x="0" y="21336"/>
                    <a:pt x="21336" y="0"/>
                    <a:pt x="47625" y="0"/>
                  </a:cubicBezTo>
                  <a:lnTo>
                    <a:pt x="12399899" y="0"/>
                  </a:lnTo>
                  <a:cubicBezTo>
                    <a:pt x="12426188" y="0"/>
                    <a:pt x="12447524" y="21336"/>
                    <a:pt x="12447524" y="47625"/>
                  </a:cubicBezTo>
                  <a:lnTo>
                    <a:pt x="12447524" y="1480693"/>
                  </a:lnTo>
                  <a:cubicBezTo>
                    <a:pt x="12447524" y="1506982"/>
                    <a:pt x="12426188" y="1528318"/>
                    <a:pt x="12399899" y="1528318"/>
                  </a:cubicBezTo>
                  <a:lnTo>
                    <a:pt x="47625" y="1528318"/>
                  </a:lnTo>
                  <a:cubicBezTo>
                    <a:pt x="21336" y="1528318"/>
                    <a:pt x="0" y="1506982"/>
                    <a:pt x="0" y="1480693"/>
                  </a:cubicBezTo>
                  <a:close/>
                </a:path>
              </a:pathLst>
            </a:custGeom>
            <a:solidFill>
              <a:srgbClr val="183A13"/>
            </a:solidFill>
          </p:spPr>
        </p:sp>
      </p:grpSp>
      <p:grpSp>
        <p:nvGrpSpPr>
          <p:cNvPr name="Group 21" id="21"/>
          <p:cNvGrpSpPr/>
          <p:nvPr/>
        </p:nvGrpSpPr>
        <p:grpSpPr>
          <a:xfrm rot="0">
            <a:off x="8143580" y="8421586"/>
            <a:ext cx="297952" cy="238420"/>
            <a:chOff x="0" y="0"/>
            <a:chExt cx="397269" cy="317894"/>
          </a:xfrm>
        </p:grpSpPr>
        <p:sp>
          <p:nvSpPr>
            <p:cNvPr name="Freeform 22" id="22" descr="preencoded.png"/>
            <p:cNvSpPr/>
            <p:nvPr/>
          </p:nvSpPr>
          <p:spPr>
            <a:xfrm flipH="false" flipV="false" rot="0">
              <a:off x="0" y="0"/>
              <a:ext cx="397256" cy="317881"/>
            </a:xfrm>
            <a:custGeom>
              <a:avLst/>
              <a:gdLst/>
              <a:ahLst/>
              <a:cxnLst/>
              <a:rect r="r" b="b" t="t" l="l"/>
              <a:pathLst>
                <a:path h="317881" w="397256">
                  <a:moveTo>
                    <a:pt x="0" y="0"/>
                  </a:moveTo>
                  <a:lnTo>
                    <a:pt x="397256" y="0"/>
                  </a:lnTo>
                  <a:lnTo>
                    <a:pt x="397256" y="317881"/>
                  </a:lnTo>
                  <a:lnTo>
                    <a:pt x="0" y="317881"/>
                  </a:lnTo>
                  <a:lnTo>
                    <a:pt x="0" y="0"/>
                  </a:lnTo>
                  <a:close/>
                </a:path>
              </a:pathLst>
            </a:custGeom>
            <a:blipFill>
              <a:blip r:embed="rId4"/>
              <a:stretch>
                <a:fillRect l="0" t="-767" r="-3" b="-775"/>
              </a:stretch>
            </a:blipFill>
          </p:spPr>
        </p:sp>
      </p:grpSp>
      <p:sp>
        <p:nvSpPr>
          <p:cNvPr name="TextBox 23" id="23"/>
          <p:cNvSpPr txBox="true"/>
          <p:nvPr/>
        </p:nvSpPr>
        <p:spPr>
          <a:xfrm rot="0">
            <a:off x="8679952" y="8286598"/>
            <a:ext cx="8322469" cy="732825"/>
          </a:xfrm>
          <a:prstGeom prst="rect">
            <a:avLst/>
          </a:prstGeom>
        </p:spPr>
        <p:txBody>
          <a:bodyPr anchor="t" rtlCol="false" tIns="0" lIns="0" bIns="0" rIns="0">
            <a:spAutoFit/>
          </a:bodyPr>
          <a:lstStyle/>
          <a:p>
            <a:pPr algn="l">
              <a:lnSpc>
                <a:spcPts val="2592"/>
              </a:lnSpc>
            </a:pPr>
            <a:r>
              <a:rPr lang="en-US" sz="1800">
                <a:solidFill>
                  <a:srgbClr val="FFFFFF"/>
                </a:solidFill>
                <a:latin typeface="Quattrocento"/>
                <a:ea typeface="Quattrocento"/>
                <a:cs typeface="Quattrocento"/>
                <a:sym typeface="Quattrocento"/>
              </a:rPr>
              <a:t>Full transaction hashes and user feedback are logged in the public repository — verified, on-chain proof of product-market fit.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1047150" y="885530"/>
            <a:ext cx="1533077" cy="562270"/>
            <a:chOff x="0" y="0"/>
            <a:chExt cx="2044103" cy="749694"/>
          </a:xfrm>
        </p:grpSpPr>
        <p:sp>
          <p:nvSpPr>
            <p:cNvPr name="Freeform 7" id="7"/>
            <p:cNvSpPr/>
            <p:nvPr/>
          </p:nvSpPr>
          <p:spPr>
            <a:xfrm flipH="false" flipV="false" rot="0">
              <a:off x="0" y="0"/>
              <a:ext cx="2044065" cy="749681"/>
            </a:xfrm>
            <a:custGeom>
              <a:avLst/>
              <a:gdLst/>
              <a:ahLst/>
              <a:cxnLst/>
              <a:rect r="r" b="b" t="t" l="l"/>
              <a:pathLst>
                <a:path h="749681" w="2044065">
                  <a:moveTo>
                    <a:pt x="0" y="47879"/>
                  </a:moveTo>
                  <a:cubicBezTo>
                    <a:pt x="0" y="21463"/>
                    <a:pt x="21463" y="0"/>
                    <a:pt x="47879" y="0"/>
                  </a:cubicBezTo>
                  <a:lnTo>
                    <a:pt x="1996186" y="0"/>
                  </a:lnTo>
                  <a:cubicBezTo>
                    <a:pt x="2022602" y="0"/>
                    <a:pt x="2044065" y="21463"/>
                    <a:pt x="2044065" y="47879"/>
                  </a:cubicBezTo>
                  <a:lnTo>
                    <a:pt x="2044065" y="701802"/>
                  </a:lnTo>
                  <a:cubicBezTo>
                    <a:pt x="2044065" y="728218"/>
                    <a:pt x="2022602" y="749681"/>
                    <a:pt x="1996186" y="749681"/>
                  </a:cubicBezTo>
                  <a:lnTo>
                    <a:pt x="47879" y="749681"/>
                  </a:lnTo>
                  <a:cubicBezTo>
                    <a:pt x="21463" y="749681"/>
                    <a:pt x="0" y="728218"/>
                    <a:pt x="0" y="701802"/>
                  </a:cubicBezTo>
                  <a:close/>
                </a:path>
              </a:pathLst>
            </a:custGeom>
            <a:solidFill>
              <a:srgbClr val="441709"/>
            </a:solidFill>
          </p:spPr>
        </p:sp>
      </p:grpSp>
      <p:sp>
        <p:nvSpPr>
          <p:cNvPr name="TextBox 8" id="8"/>
          <p:cNvSpPr txBox="true"/>
          <p:nvPr/>
        </p:nvSpPr>
        <p:spPr>
          <a:xfrm rot="0">
            <a:off x="1226639" y="899074"/>
            <a:ext cx="2088509" cy="458991"/>
          </a:xfrm>
          <a:prstGeom prst="rect">
            <a:avLst/>
          </a:prstGeom>
        </p:spPr>
        <p:txBody>
          <a:bodyPr anchor="t" rtlCol="false" tIns="0" lIns="0" bIns="0" rIns="0">
            <a:spAutoFit/>
          </a:bodyPr>
          <a:lstStyle/>
          <a:p>
            <a:pPr algn="l">
              <a:lnSpc>
                <a:spcPts val="2872"/>
              </a:lnSpc>
            </a:pPr>
            <a:r>
              <a:rPr lang="en-US" sz="1800">
                <a:solidFill>
                  <a:srgbClr val="F9EEE7"/>
                </a:solidFill>
                <a:latin typeface="Quattrocento"/>
                <a:ea typeface="Quattrocento"/>
                <a:cs typeface="Quattrocento"/>
                <a:sym typeface="Quattrocento"/>
              </a:rPr>
              <a:t>ROADMAP</a:t>
            </a:r>
          </a:p>
        </p:txBody>
      </p:sp>
      <p:sp>
        <p:nvSpPr>
          <p:cNvPr name="TextBox 9" id="9"/>
          <p:cNvSpPr txBox="true"/>
          <p:nvPr/>
        </p:nvSpPr>
        <p:spPr>
          <a:xfrm rot="0">
            <a:off x="1047150" y="1538888"/>
            <a:ext cx="12082758" cy="908599"/>
          </a:xfrm>
          <a:prstGeom prst="rect">
            <a:avLst/>
          </a:prstGeom>
        </p:spPr>
        <p:txBody>
          <a:bodyPr anchor="t" rtlCol="false" tIns="0" lIns="0" bIns="0" rIns="0">
            <a:spAutoFit/>
          </a:bodyPr>
          <a:lstStyle/>
          <a:p>
            <a:pPr algn="l">
              <a:lnSpc>
                <a:spcPts val="6864"/>
              </a:lnSpc>
            </a:pPr>
            <a:r>
              <a:rPr lang="en-US" sz="5500">
                <a:solidFill>
                  <a:srgbClr val="FFD9BE"/>
                </a:solidFill>
                <a:latin typeface="Quattrocento"/>
                <a:ea typeface="Quattrocento"/>
                <a:cs typeface="Quattrocento"/>
                <a:sym typeface="Quattrocento"/>
              </a:rPr>
              <a:t>Future Evolution &amp; Scaling Strategy</a:t>
            </a:r>
          </a:p>
        </p:txBody>
      </p:sp>
      <p:grpSp>
        <p:nvGrpSpPr>
          <p:cNvPr name="Group 10" id="10"/>
          <p:cNvGrpSpPr/>
          <p:nvPr/>
        </p:nvGrpSpPr>
        <p:grpSpPr>
          <a:xfrm rot="0">
            <a:off x="1047150" y="6148835"/>
            <a:ext cx="16193691" cy="38100"/>
            <a:chOff x="0" y="0"/>
            <a:chExt cx="21591588" cy="50800"/>
          </a:xfrm>
        </p:grpSpPr>
        <p:sp>
          <p:nvSpPr>
            <p:cNvPr name="Freeform 11" id="11"/>
            <p:cNvSpPr/>
            <p:nvPr/>
          </p:nvSpPr>
          <p:spPr>
            <a:xfrm flipH="false" flipV="false" rot="0">
              <a:off x="0" y="0"/>
              <a:ext cx="21591524" cy="50800"/>
            </a:xfrm>
            <a:custGeom>
              <a:avLst/>
              <a:gdLst/>
              <a:ahLst/>
              <a:cxnLst/>
              <a:rect r="r" b="b" t="t" l="l"/>
              <a:pathLst>
                <a:path h="50800" w="21591524">
                  <a:moveTo>
                    <a:pt x="0" y="25400"/>
                  </a:moveTo>
                  <a:cubicBezTo>
                    <a:pt x="0" y="11430"/>
                    <a:pt x="11430" y="0"/>
                    <a:pt x="25400" y="0"/>
                  </a:cubicBezTo>
                  <a:lnTo>
                    <a:pt x="21566124" y="0"/>
                  </a:lnTo>
                  <a:cubicBezTo>
                    <a:pt x="21580094" y="0"/>
                    <a:pt x="21591524" y="11430"/>
                    <a:pt x="21591524" y="25400"/>
                  </a:cubicBezTo>
                  <a:cubicBezTo>
                    <a:pt x="21591524" y="39370"/>
                    <a:pt x="21580094" y="50800"/>
                    <a:pt x="21566124" y="50800"/>
                  </a:cubicBezTo>
                  <a:lnTo>
                    <a:pt x="25400" y="50800"/>
                  </a:lnTo>
                  <a:cubicBezTo>
                    <a:pt x="11430" y="50800"/>
                    <a:pt x="0" y="39370"/>
                    <a:pt x="0" y="25400"/>
                  </a:cubicBezTo>
                  <a:close/>
                </a:path>
              </a:pathLst>
            </a:custGeom>
            <a:solidFill>
              <a:srgbClr val="4A6B6A"/>
            </a:solidFill>
          </p:spPr>
        </p:sp>
      </p:grpSp>
      <p:grpSp>
        <p:nvGrpSpPr>
          <p:cNvPr name="Group 12" id="12"/>
          <p:cNvGrpSpPr/>
          <p:nvPr/>
        </p:nvGrpSpPr>
        <p:grpSpPr>
          <a:xfrm rot="0">
            <a:off x="4982766" y="5251323"/>
            <a:ext cx="38100" cy="897579"/>
            <a:chOff x="0" y="0"/>
            <a:chExt cx="50800" cy="1196772"/>
          </a:xfrm>
        </p:grpSpPr>
        <p:sp>
          <p:nvSpPr>
            <p:cNvPr name="Freeform 13" id="13"/>
            <p:cNvSpPr/>
            <p:nvPr/>
          </p:nvSpPr>
          <p:spPr>
            <a:xfrm flipH="false" flipV="false" rot="0">
              <a:off x="0" y="0"/>
              <a:ext cx="50800" cy="1196721"/>
            </a:xfrm>
            <a:custGeom>
              <a:avLst/>
              <a:gdLst/>
              <a:ahLst/>
              <a:cxnLst/>
              <a:rect r="r" b="b" t="t" l="l"/>
              <a:pathLst>
                <a:path h="1196721" w="50800">
                  <a:moveTo>
                    <a:pt x="0" y="25400"/>
                  </a:moveTo>
                  <a:cubicBezTo>
                    <a:pt x="0" y="11430"/>
                    <a:pt x="11430" y="0"/>
                    <a:pt x="25400" y="0"/>
                  </a:cubicBezTo>
                  <a:cubicBezTo>
                    <a:pt x="39370" y="0"/>
                    <a:pt x="50800" y="11430"/>
                    <a:pt x="50800" y="25400"/>
                  </a:cubicBezTo>
                  <a:lnTo>
                    <a:pt x="50800" y="1171321"/>
                  </a:lnTo>
                  <a:cubicBezTo>
                    <a:pt x="50800" y="1185291"/>
                    <a:pt x="39370" y="1196721"/>
                    <a:pt x="25400" y="1196721"/>
                  </a:cubicBezTo>
                  <a:cubicBezTo>
                    <a:pt x="11430" y="1196721"/>
                    <a:pt x="0" y="1185291"/>
                    <a:pt x="0" y="1171321"/>
                  </a:cubicBezTo>
                  <a:close/>
                </a:path>
              </a:pathLst>
            </a:custGeom>
            <a:solidFill>
              <a:srgbClr val="4A6B6A"/>
            </a:solidFill>
          </p:spPr>
        </p:sp>
      </p:grpSp>
      <p:grpSp>
        <p:nvGrpSpPr>
          <p:cNvPr name="Group 14" id="14"/>
          <p:cNvGrpSpPr/>
          <p:nvPr/>
        </p:nvGrpSpPr>
        <p:grpSpPr>
          <a:xfrm rot="0">
            <a:off x="4665316" y="5812260"/>
            <a:ext cx="673151" cy="673151"/>
            <a:chOff x="0" y="0"/>
            <a:chExt cx="897534" cy="897534"/>
          </a:xfrm>
        </p:grpSpPr>
        <p:sp>
          <p:nvSpPr>
            <p:cNvPr name="Freeform 15" id="15"/>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315251"/>
            </a:solidFill>
          </p:spPr>
        </p:sp>
      </p:grpSp>
      <p:grpSp>
        <p:nvGrpSpPr>
          <p:cNvPr name="Group 16" id="16"/>
          <p:cNvGrpSpPr/>
          <p:nvPr/>
        </p:nvGrpSpPr>
        <p:grpSpPr>
          <a:xfrm rot="0">
            <a:off x="4790627" y="5884736"/>
            <a:ext cx="422377" cy="528037"/>
            <a:chOff x="0" y="0"/>
            <a:chExt cx="563169" cy="704050"/>
          </a:xfrm>
        </p:grpSpPr>
        <p:sp>
          <p:nvSpPr>
            <p:cNvPr name="Freeform 17" id="17"/>
            <p:cNvSpPr/>
            <p:nvPr/>
          </p:nvSpPr>
          <p:spPr>
            <a:xfrm flipH="false" flipV="false" rot="0">
              <a:off x="0" y="0"/>
              <a:ext cx="563165" cy="704056"/>
            </a:xfrm>
            <a:custGeom>
              <a:avLst/>
              <a:gdLst/>
              <a:ahLst/>
              <a:cxnLst/>
              <a:rect r="r" b="b" t="t" l="l"/>
              <a:pathLst>
                <a:path h="704056" w="563165">
                  <a:moveTo>
                    <a:pt x="0" y="0"/>
                  </a:moveTo>
                  <a:lnTo>
                    <a:pt x="563165" y="0"/>
                  </a:lnTo>
                  <a:lnTo>
                    <a:pt x="563165" y="704056"/>
                  </a:lnTo>
                  <a:lnTo>
                    <a:pt x="0" y="704056"/>
                  </a:lnTo>
                  <a:close/>
                </a:path>
              </a:pathLst>
            </a:custGeom>
            <a:blipFill>
              <a:blip r:embed="rId3">
                <a:alphaModFix amt="0"/>
              </a:blip>
              <a:stretch>
                <a:fillRect l="-110400" t="0" r="-110401" b="0"/>
              </a:stretch>
            </a:blipFill>
          </p:spPr>
        </p:sp>
        <p:sp>
          <p:nvSpPr>
            <p:cNvPr name="TextBox 18" id="18"/>
            <p:cNvSpPr txBox="true"/>
            <p:nvPr/>
          </p:nvSpPr>
          <p:spPr>
            <a:xfrm>
              <a:off x="0" y="-9525"/>
              <a:ext cx="563169" cy="713575"/>
            </a:xfrm>
            <a:prstGeom prst="rect">
              <a:avLst/>
            </a:prstGeom>
          </p:spPr>
          <p:txBody>
            <a:bodyPr anchor="ctr" rtlCol="false" tIns="0" lIns="0" bIns="0" rIns="0"/>
            <a:lstStyle/>
            <a:p>
              <a:pPr algn="ctr">
                <a:lnSpc>
                  <a:spcPts val="3960"/>
                </a:lnSpc>
              </a:pPr>
              <a:r>
                <a:rPr lang="en-US" sz="3300">
                  <a:solidFill>
                    <a:srgbClr val="F9EEE7"/>
                  </a:solidFill>
                  <a:latin typeface="Quattrocento"/>
                  <a:ea typeface="Quattrocento"/>
                  <a:cs typeface="Quattrocento"/>
                  <a:sym typeface="Quattrocento"/>
                </a:rPr>
                <a:t>1</a:t>
              </a:r>
            </a:p>
          </p:txBody>
        </p:sp>
      </p:grpSp>
      <p:sp>
        <p:nvSpPr>
          <p:cNvPr name="TextBox 19" id="19"/>
          <p:cNvSpPr txBox="true"/>
          <p:nvPr/>
        </p:nvSpPr>
        <p:spPr>
          <a:xfrm rot="0">
            <a:off x="2402681" y="2877150"/>
            <a:ext cx="5198716" cy="458991"/>
          </a:xfrm>
          <a:prstGeom prst="rect">
            <a:avLst/>
          </a:prstGeom>
        </p:spPr>
        <p:txBody>
          <a:bodyPr anchor="t" rtlCol="false" tIns="0" lIns="0" bIns="0" rIns="0">
            <a:spAutoFit/>
          </a:bodyPr>
          <a:lstStyle/>
          <a:p>
            <a:pPr algn="ctr">
              <a:lnSpc>
                <a:spcPts val="3369"/>
              </a:lnSpc>
            </a:pPr>
            <a:r>
              <a:rPr lang="en-US" sz="2700">
                <a:solidFill>
                  <a:srgbClr val="F9EEE7"/>
                </a:solidFill>
                <a:latin typeface="Quattrocento"/>
                <a:ea typeface="Quattrocento"/>
                <a:cs typeface="Quattrocento"/>
                <a:sym typeface="Quattrocento"/>
              </a:rPr>
              <a:t>Phase 1 — Stablecoin Settlements</a:t>
            </a:r>
          </a:p>
        </p:txBody>
      </p:sp>
      <p:sp>
        <p:nvSpPr>
          <p:cNvPr name="TextBox 20" id="20"/>
          <p:cNvSpPr txBox="true"/>
          <p:nvPr/>
        </p:nvSpPr>
        <p:spPr>
          <a:xfrm rot="0">
            <a:off x="1346302" y="3420370"/>
            <a:ext cx="7311476" cy="1531591"/>
          </a:xfrm>
          <a:prstGeom prst="rect">
            <a:avLst/>
          </a:prstGeom>
        </p:spPr>
        <p:txBody>
          <a:bodyPr anchor="t" rtlCol="false" tIns="0" lIns="0" bIns="0" rIns="0">
            <a:spAutoFit/>
          </a:bodyPr>
          <a:lstStyle/>
          <a:p>
            <a:pPr algn="ctr">
              <a:lnSpc>
                <a:spcPts val="3670"/>
              </a:lnSpc>
            </a:pPr>
            <a:r>
              <a:rPr lang="en-US" sz="2300">
                <a:solidFill>
                  <a:srgbClr val="F9EEE7"/>
                </a:solidFill>
                <a:latin typeface="Quattrocento"/>
                <a:ea typeface="Quattrocento"/>
                <a:cs typeface="Quattrocento"/>
                <a:sym typeface="Quattrocento"/>
              </a:rPr>
              <a:t>Integrate USDC &amp; EURC via Stellar Asset Contracts to protect freelancers from XLM price volatility during project milestones.</a:t>
            </a:r>
          </a:p>
        </p:txBody>
      </p:sp>
      <p:grpSp>
        <p:nvGrpSpPr>
          <p:cNvPr name="Group 21" id="21"/>
          <p:cNvGrpSpPr/>
          <p:nvPr/>
        </p:nvGrpSpPr>
        <p:grpSpPr>
          <a:xfrm rot="0">
            <a:off x="9124655" y="6148759"/>
            <a:ext cx="38100" cy="897579"/>
            <a:chOff x="0" y="0"/>
            <a:chExt cx="50800" cy="1196772"/>
          </a:xfrm>
        </p:grpSpPr>
        <p:sp>
          <p:nvSpPr>
            <p:cNvPr name="Freeform 22" id="22"/>
            <p:cNvSpPr/>
            <p:nvPr/>
          </p:nvSpPr>
          <p:spPr>
            <a:xfrm flipH="false" flipV="false" rot="0">
              <a:off x="0" y="0"/>
              <a:ext cx="50800" cy="1196721"/>
            </a:xfrm>
            <a:custGeom>
              <a:avLst/>
              <a:gdLst/>
              <a:ahLst/>
              <a:cxnLst/>
              <a:rect r="r" b="b" t="t" l="l"/>
              <a:pathLst>
                <a:path h="1196721" w="50800">
                  <a:moveTo>
                    <a:pt x="0" y="25400"/>
                  </a:moveTo>
                  <a:cubicBezTo>
                    <a:pt x="0" y="11430"/>
                    <a:pt x="11430" y="0"/>
                    <a:pt x="25400" y="0"/>
                  </a:cubicBezTo>
                  <a:cubicBezTo>
                    <a:pt x="39370" y="0"/>
                    <a:pt x="50800" y="11430"/>
                    <a:pt x="50800" y="25400"/>
                  </a:cubicBezTo>
                  <a:lnTo>
                    <a:pt x="50800" y="1171321"/>
                  </a:lnTo>
                  <a:cubicBezTo>
                    <a:pt x="50800" y="1185291"/>
                    <a:pt x="39370" y="1196721"/>
                    <a:pt x="25400" y="1196721"/>
                  </a:cubicBezTo>
                  <a:cubicBezTo>
                    <a:pt x="11430" y="1196721"/>
                    <a:pt x="0" y="1185291"/>
                    <a:pt x="0" y="1171321"/>
                  </a:cubicBezTo>
                  <a:close/>
                </a:path>
              </a:pathLst>
            </a:custGeom>
            <a:solidFill>
              <a:srgbClr val="4A6B6A"/>
            </a:solidFill>
          </p:spPr>
        </p:sp>
      </p:grpSp>
      <p:grpSp>
        <p:nvGrpSpPr>
          <p:cNvPr name="Group 23" id="23"/>
          <p:cNvGrpSpPr/>
          <p:nvPr/>
        </p:nvGrpSpPr>
        <p:grpSpPr>
          <a:xfrm rot="0">
            <a:off x="8807206" y="5812260"/>
            <a:ext cx="673151" cy="673151"/>
            <a:chOff x="0" y="0"/>
            <a:chExt cx="897534" cy="897534"/>
          </a:xfrm>
        </p:grpSpPr>
        <p:sp>
          <p:nvSpPr>
            <p:cNvPr name="Freeform 24" id="24"/>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315251"/>
            </a:solidFill>
          </p:spPr>
        </p:sp>
      </p:grpSp>
      <p:grpSp>
        <p:nvGrpSpPr>
          <p:cNvPr name="Group 25" id="25"/>
          <p:cNvGrpSpPr/>
          <p:nvPr/>
        </p:nvGrpSpPr>
        <p:grpSpPr>
          <a:xfrm rot="0">
            <a:off x="8932516" y="5884736"/>
            <a:ext cx="422377" cy="528037"/>
            <a:chOff x="0" y="0"/>
            <a:chExt cx="563169" cy="704050"/>
          </a:xfrm>
        </p:grpSpPr>
        <p:sp>
          <p:nvSpPr>
            <p:cNvPr name="Freeform 26" id="26"/>
            <p:cNvSpPr/>
            <p:nvPr/>
          </p:nvSpPr>
          <p:spPr>
            <a:xfrm flipH="false" flipV="false" rot="0">
              <a:off x="0" y="0"/>
              <a:ext cx="563165" cy="704056"/>
            </a:xfrm>
            <a:custGeom>
              <a:avLst/>
              <a:gdLst/>
              <a:ahLst/>
              <a:cxnLst/>
              <a:rect r="r" b="b" t="t" l="l"/>
              <a:pathLst>
                <a:path h="704056" w="563165">
                  <a:moveTo>
                    <a:pt x="0" y="0"/>
                  </a:moveTo>
                  <a:lnTo>
                    <a:pt x="563165" y="0"/>
                  </a:lnTo>
                  <a:lnTo>
                    <a:pt x="563165" y="704056"/>
                  </a:lnTo>
                  <a:lnTo>
                    <a:pt x="0" y="704056"/>
                  </a:lnTo>
                  <a:close/>
                </a:path>
              </a:pathLst>
            </a:custGeom>
            <a:blipFill>
              <a:blip r:embed="rId3">
                <a:alphaModFix amt="0"/>
              </a:blip>
              <a:stretch>
                <a:fillRect l="-110400" t="0" r="-110401" b="0"/>
              </a:stretch>
            </a:blipFill>
          </p:spPr>
        </p:sp>
        <p:sp>
          <p:nvSpPr>
            <p:cNvPr name="TextBox 27" id="27"/>
            <p:cNvSpPr txBox="true"/>
            <p:nvPr/>
          </p:nvSpPr>
          <p:spPr>
            <a:xfrm>
              <a:off x="0" y="-9525"/>
              <a:ext cx="563169" cy="713575"/>
            </a:xfrm>
            <a:prstGeom prst="rect">
              <a:avLst/>
            </a:prstGeom>
          </p:spPr>
          <p:txBody>
            <a:bodyPr anchor="ctr" rtlCol="false" tIns="0" lIns="0" bIns="0" rIns="0"/>
            <a:lstStyle/>
            <a:p>
              <a:pPr algn="ctr">
                <a:lnSpc>
                  <a:spcPts val="3960"/>
                </a:lnSpc>
              </a:pPr>
              <a:r>
                <a:rPr lang="en-US" sz="3300">
                  <a:solidFill>
                    <a:srgbClr val="F9EEE7"/>
                  </a:solidFill>
                  <a:latin typeface="Quattrocento"/>
                  <a:ea typeface="Quattrocento"/>
                  <a:cs typeface="Quattrocento"/>
                  <a:sym typeface="Quattrocento"/>
                </a:rPr>
                <a:t>2</a:t>
              </a:r>
            </a:p>
          </p:txBody>
        </p:sp>
      </p:grpSp>
      <p:sp>
        <p:nvSpPr>
          <p:cNvPr name="TextBox 28" id="28"/>
          <p:cNvSpPr txBox="true"/>
          <p:nvPr/>
        </p:nvSpPr>
        <p:spPr>
          <a:xfrm rot="0">
            <a:off x="6818557" y="7326659"/>
            <a:ext cx="4650581" cy="458991"/>
          </a:xfrm>
          <a:prstGeom prst="rect">
            <a:avLst/>
          </a:prstGeom>
        </p:spPr>
        <p:txBody>
          <a:bodyPr anchor="t" rtlCol="false" tIns="0" lIns="0" bIns="0" rIns="0">
            <a:spAutoFit/>
          </a:bodyPr>
          <a:lstStyle/>
          <a:p>
            <a:pPr algn="ctr">
              <a:lnSpc>
                <a:spcPts val="3369"/>
              </a:lnSpc>
            </a:pPr>
            <a:r>
              <a:rPr lang="en-US" sz="2700">
                <a:solidFill>
                  <a:srgbClr val="F9EEE7"/>
                </a:solidFill>
                <a:latin typeface="Quattrocento"/>
                <a:ea typeface="Quattrocento"/>
                <a:cs typeface="Quattrocento"/>
                <a:sym typeface="Quattrocento"/>
              </a:rPr>
              <a:t>Phase 2 — Dispute Resolution</a:t>
            </a:r>
          </a:p>
        </p:txBody>
      </p:sp>
      <p:sp>
        <p:nvSpPr>
          <p:cNvPr name="TextBox 29" id="29"/>
          <p:cNvSpPr txBox="true"/>
          <p:nvPr/>
        </p:nvSpPr>
        <p:spPr>
          <a:xfrm rot="0">
            <a:off x="5488191" y="7869879"/>
            <a:ext cx="7311476" cy="1531591"/>
          </a:xfrm>
          <a:prstGeom prst="rect">
            <a:avLst/>
          </a:prstGeom>
        </p:spPr>
        <p:txBody>
          <a:bodyPr anchor="t" rtlCol="false" tIns="0" lIns="0" bIns="0" rIns="0">
            <a:spAutoFit/>
          </a:bodyPr>
          <a:lstStyle/>
          <a:p>
            <a:pPr algn="ctr">
              <a:lnSpc>
                <a:spcPts val="3670"/>
              </a:lnSpc>
            </a:pPr>
            <a:r>
              <a:rPr lang="en-US" sz="2300">
                <a:solidFill>
                  <a:srgbClr val="F9EEE7"/>
                </a:solidFill>
                <a:latin typeface="Quattrocento"/>
                <a:ea typeface="Quattrocento"/>
                <a:cs typeface="Quattrocento"/>
                <a:sym typeface="Quattrocento"/>
              </a:rPr>
              <a:t>Introduce a 2-of-3 multi-signature consensus mechanism with trusted third-party arbitrators to resolve disputes and authorize releases or refunds.</a:t>
            </a:r>
          </a:p>
        </p:txBody>
      </p:sp>
      <p:grpSp>
        <p:nvGrpSpPr>
          <p:cNvPr name="Group 30" id="30"/>
          <p:cNvGrpSpPr/>
          <p:nvPr/>
        </p:nvGrpSpPr>
        <p:grpSpPr>
          <a:xfrm rot="0">
            <a:off x="13266687" y="5251323"/>
            <a:ext cx="38100" cy="897579"/>
            <a:chOff x="0" y="0"/>
            <a:chExt cx="50800" cy="1196772"/>
          </a:xfrm>
        </p:grpSpPr>
        <p:sp>
          <p:nvSpPr>
            <p:cNvPr name="Freeform 31" id="31"/>
            <p:cNvSpPr/>
            <p:nvPr/>
          </p:nvSpPr>
          <p:spPr>
            <a:xfrm flipH="false" flipV="false" rot="0">
              <a:off x="0" y="0"/>
              <a:ext cx="50800" cy="1196721"/>
            </a:xfrm>
            <a:custGeom>
              <a:avLst/>
              <a:gdLst/>
              <a:ahLst/>
              <a:cxnLst/>
              <a:rect r="r" b="b" t="t" l="l"/>
              <a:pathLst>
                <a:path h="1196721" w="50800">
                  <a:moveTo>
                    <a:pt x="0" y="25400"/>
                  </a:moveTo>
                  <a:cubicBezTo>
                    <a:pt x="0" y="11430"/>
                    <a:pt x="11430" y="0"/>
                    <a:pt x="25400" y="0"/>
                  </a:cubicBezTo>
                  <a:cubicBezTo>
                    <a:pt x="39370" y="0"/>
                    <a:pt x="50800" y="11430"/>
                    <a:pt x="50800" y="25400"/>
                  </a:cubicBezTo>
                  <a:lnTo>
                    <a:pt x="50800" y="1171321"/>
                  </a:lnTo>
                  <a:cubicBezTo>
                    <a:pt x="50800" y="1185291"/>
                    <a:pt x="39370" y="1196721"/>
                    <a:pt x="25400" y="1196721"/>
                  </a:cubicBezTo>
                  <a:cubicBezTo>
                    <a:pt x="11430" y="1196721"/>
                    <a:pt x="0" y="1185291"/>
                    <a:pt x="0" y="1171321"/>
                  </a:cubicBezTo>
                  <a:close/>
                </a:path>
              </a:pathLst>
            </a:custGeom>
            <a:solidFill>
              <a:srgbClr val="4A6B6A"/>
            </a:solidFill>
          </p:spPr>
        </p:sp>
      </p:grpSp>
      <p:grpSp>
        <p:nvGrpSpPr>
          <p:cNvPr name="Group 32" id="32"/>
          <p:cNvGrpSpPr/>
          <p:nvPr/>
        </p:nvGrpSpPr>
        <p:grpSpPr>
          <a:xfrm rot="0">
            <a:off x="12949238" y="5812260"/>
            <a:ext cx="673151" cy="673151"/>
            <a:chOff x="0" y="0"/>
            <a:chExt cx="897534" cy="897534"/>
          </a:xfrm>
        </p:grpSpPr>
        <p:sp>
          <p:nvSpPr>
            <p:cNvPr name="Freeform 33" id="33"/>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315251"/>
            </a:solidFill>
          </p:spPr>
        </p:sp>
      </p:grpSp>
      <p:grpSp>
        <p:nvGrpSpPr>
          <p:cNvPr name="Group 34" id="34"/>
          <p:cNvGrpSpPr/>
          <p:nvPr/>
        </p:nvGrpSpPr>
        <p:grpSpPr>
          <a:xfrm rot="0">
            <a:off x="13074548" y="5884736"/>
            <a:ext cx="422377" cy="528037"/>
            <a:chOff x="0" y="0"/>
            <a:chExt cx="563169" cy="704050"/>
          </a:xfrm>
        </p:grpSpPr>
        <p:sp>
          <p:nvSpPr>
            <p:cNvPr name="Freeform 35" id="35"/>
            <p:cNvSpPr/>
            <p:nvPr/>
          </p:nvSpPr>
          <p:spPr>
            <a:xfrm flipH="false" flipV="false" rot="0">
              <a:off x="0" y="0"/>
              <a:ext cx="563165" cy="704056"/>
            </a:xfrm>
            <a:custGeom>
              <a:avLst/>
              <a:gdLst/>
              <a:ahLst/>
              <a:cxnLst/>
              <a:rect r="r" b="b" t="t" l="l"/>
              <a:pathLst>
                <a:path h="704056" w="563165">
                  <a:moveTo>
                    <a:pt x="0" y="0"/>
                  </a:moveTo>
                  <a:lnTo>
                    <a:pt x="563165" y="0"/>
                  </a:lnTo>
                  <a:lnTo>
                    <a:pt x="563165" y="704056"/>
                  </a:lnTo>
                  <a:lnTo>
                    <a:pt x="0" y="704056"/>
                  </a:lnTo>
                  <a:close/>
                </a:path>
              </a:pathLst>
            </a:custGeom>
            <a:blipFill>
              <a:blip r:embed="rId3">
                <a:alphaModFix amt="0"/>
              </a:blip>
              <a:stretch>
                <a:fillRect l="-110400" t="0" r="-110401" b="0"/>
              </a:stretch>
            </a:blipFill>
          </p:spPr>
        </p:sp>
        <p:sp>
          <p:nvSpPr>
            <p:cNvPr name="TextBox 36" id="36"/>
            <p:cNvSpPr txBox="true"/>
            <p:nvPr/>
          </p:nvSpPr>
          <p:spPr>
            <a:xfrm>
              <a:off x="0" y="-9525"/>
              <a:ext cx="563169" cy="713575"/>
            </a:xfrm>
            <a:prstGeom prst="rect">
              <a:avLst/>
            </a:prstGeom>
          </p:spPr>
          <p:txBody>
            <a:bodyPr anchor="ctr" rtlCol="false" tIns="0" lIns="0" bIns="0" rIns="0"/>
            <a:lstStyle/>
            <a:p>
              <a:pPr algn="ctr">
                <a:lnSpc>
                  <a:spcPts val="3960"/>
                </a:lnSpc>
              </a:pPr>
              <a:r>
                <a:rPr lang="en-US" sz="3300">
                  <a:solidFill>
                    <a:srgbClr val="F9EEE7"/>
                  </a:solidFill>
                  <a:latin typeface="Quattrocento"/>
                  <a:ea typeface="Quattrocento"/>
                  <a:cs typeface="Quattrocento"/>
                  <a:sym typeface="Quattrocento"/>
                </a:rPr>
                <a:t>3</a:t>
              </a:r>
            </a:p>
          </p:txBody>
        </p:sp>
      </p:grpSp>
      <p:sp>
        <p:nvSpPr>
          <p:cNvPr name="TextBox 37" id="37"/>
          <p:cNvSpPr txBox="true"/>
          <p:nvPr/>
        </p:nvSpPr>
        <p:spPr>
          <a:xfrm rot="0">
            <a:off x="11010157" y="2877150"/>
            <a:ext cx="4551312" cy="458991"/>
          </a:xfrm>
          <a:prstGeom prst="rect">
            <a:avLst/>
          </a:prstGeom>
        </p:spPr>
        <p:txBody>
          <a:bodyPr anchor="t" rtlCol="false" tIns="0" lIns="0" bIns="0" rIns="0">
            <a:spAutoFit/>
          </a:bodyPr>
          <a:lstStyle/>
          <a:p>
            <a:pPr algn="ctr">
              <a:lnSpc>
                <a:spcPts val="3369"/>
              </a:lnSpc>
            </a:pPr>
            <a:r>
              <a:rPr lang="en-US" sz="2700">
                <a:solidFill>
                  <a:srgbClr val="F9EEE7"/>
                </a:solidFill>
                <a:latin typeface="Quattrocento"/>
                <a:ea typeface="Quattrocento"/>
                <a:cs typeface="Quattrocento"/>
                <a:sym typeface="Quattrocento"/>
              </a:rPr>
              <a:t>Phase 3 — Reputation Ledger</a:t>
            </a:r>
          </a:p>
        </p:txBody>
      </p:sp>
      <p:sp>
        <p:nvSpPr>
          <p:cNvPr name="TextBox 38" id="38"/>
          <p:cNvSpPr txBox="true"/>
          <p:nvPr/>
        </p:nvSpPr>
        <p:spPr>
          <a:xfrm rot="0">
            <a:off x="9630070" y="3420370"/>
            <a:ext cx="7311628" cy="1531591"/>
          </a:xfrm>
          <a:prstGeom prst="rect">
            <a:avLst/>
          </a:prstGeom>
        </p:spPr>
        <p:txBody>
          <a:bodyPr anchor="t" rtlCol="false" tIns="0" lIns="0" bIns="0" rIns="0">
            <a:spAutoFit/>
          </a:bodyPr>
          <a:lstStyle/>
          <a:p>
            <a:pPr algn="ctr">
              <a:lnSpc>
                <a:spcPts val="3670"/>
              </a:lnSpc>
            </a:pPr>
            <a:r>
              <a:rPr lang="en-US" sz="2300">
                <a:solidFill>
                  <a:srgbClr val="F9EEE7"/>
                </a:solidFill>
                <a:latin typeface="Quattrocento"/>
                <a:ea typeface="Quattrocento"/>
                <a:cs typeface="Quattrocento"/>
                <a:sym typeface="Quattrocento"/>
              </a:rPr>
              <a:t>Build an on-chain history of successfully completed escrows, giving freelancers verifiable proof of work and a portable trust score.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424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23332"/>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1047150" y="840429"/>
            <a:ext cx="9538840" cy="839838"/>
          </a:xfrm>
          <a:prstGeom prst="rect">
            <a:avLst/>
          </a:prstGeom>
        </p:spPr>
        <p:txBody>
          <a:bodyPr anchor="t" rtlCol="false" tIns="0" lIns="0" bIns="0" rIns="0">
            <a:spAutoFit/>
          </a:bodyPr>
          <a:lstStyle/>
          <a:p>
            <a:pPr algn="l">
              <a:lnSpc>
                <a:spcPts val="6364"/>
              </a:lnSpc>
            </a:pPr>
            <a:r>
              <a:rPr lang="en-US" sz="5100">
                <a:solidFill>
                  <a:srgbClr val="FFD9BE"/>
                </a:solidFill>
                <a:latin typeface="Quattrocento"/>
                <a:ea typeface="Quattrocento"/>
                <a:cs typeface="Quattrocento"/>
                <a:sym typeface="Quattrocento"/>
              </a:rPr>
              <a:t>EscrowX – Freelance Secured</a:t>
            </a:r>
          </a:p>
        </p:txBody>
      </p:sp>
      <p:sp>
        <p:nvSpPr>
          <p:cNvPr name="TextBox 11" id="11"/>
          <p:cNvSpPr txBox="true"/>
          <p:nvPr/>
        </p:nvSpPr>
        <p:spPr>
          <a:xfrm rot="0">
            <a:off x="1047150" y="1975990"/>
            <a:ext cx="9335691" cy="933450"/>
          </a:xfrm>
          <a:prstGeom prst="rect">
            <a:avLst/>
          </a:prstGeom>
        </p:spPr>
        <p:txBody>
          <a:bodyPr anchor="t" rtlCol="false" tIns="0" lIns="0" bIns="0" rIns="0">
            <a:spAutoFit/>
          </a:bodyPr>
          <a:lstStyle/>
          <a:p>
            <a:pPr algn="l">
              <a:lnSpc>
                <a:spcPts val="3225"/>
              </a:lnSpc>
            </a:pPr>
            <a:r>
              <a:rPr lang="en-US" sz="2100">
                <a:solidFill>
                  <a:srgbClr val="F9EEE7"/>
                </a:solidFill>
                <a:latin typeface="Quattrocento"/>
                <a:ea typeface="Quattrocento"/>
                <a:cs typeface="Quattrocento"/>
                <a:sym typeface="Quattrocento"/>
              </a:rPr>
              <a:t>Global freelance transacting made </a:t>
            </a:r>
            <a:r>
              <a:rPr lang="en-US" sz="2100" b="true">
                <a:solidFill>
                  <a:srgbClr val="F9EEE7"/>
                </a:solidFill>
                <a:latin typeface="Quattrocento Bold"/>
                <a:ea typeface="Quattrocento Bold"/>
                <a:cs typeface="Quattrocento Bold"/>
                <a:sym typeface="Quattrocento Bold"/>
              </a:rPr>
              <a:t>safe, immediate, and extremely affordable.</a:t>
            </a:r>
          </a:p>
        </p:txBody>
      </p:sp>
      <p:grpSp>
        <p:nvGrpSpPr>
          <p:cNvPr name="Group 12" id="12"/>
          <p:cNvGrpSpPr/>
          <p:nvPr/>
        </p:nvGrpSpPr>
        <p:grpSpPr>
          <a:xfrm rot="0">
            <a:off x="1047150" y="3195485"/>
            <a:ext cx="4540748" cy="1976590"/>
            <a:chOff x="0" y="0"/>
            <a:chExt cx="6054331" cy="2635453"/>
          </a:xfrm>
        </p:grpSpPr>
        <p:sp>
          <p:nvSpPr>
            <p:cNvPr name="Freeform 13" id="13"/>
            <p:cNvSpPr/>
            <p:nvPr/>
          </p:nvSpPr>
          <p:spPr>
            <a:xfrm flipH="false" flipV="false" rot="0">
              <a:off x="0" y="0"/>
              <a:ext cx="6054344" cy="2635377"/>
            </a:xfrm>
            <a:custGeom>
              <a:avLst/>
              <a:gdLst/>
              <a:ahLst/>
              <a:cxnLst/>
              <a:rect r="r" b="b" t="t" l="l"/>
              <a:pathLst>
                <a:path h="2635377" w="6054344">
                  <a:moveTo>
                    <a:pt x="0" y="55118"/>
                  </a:moveTo>
                  <a:cubicBezTo>
                    <a:pt x="0" y="24638"/>
                    <a:pt x="24638" y="0"/>
                    <a:pt x="55118" y="0"/>
                  </a:cubicBezTo>
                  <a:lnTo>
                    <a:pt x="5999226" y="0"/>
                  </a:lnTo>
                  <a:cubicBezTo>
                    <a:pt x="6029706" y="0"/>
                    <a:pt x="6054344" y="24638"/>
                    <a:pt x="6054344" y="55118"/>
                  </a:cubicBezTo>
                  <a:lnTo>
                    <a:pt x="6054344" y="2580259"/>
                  </a:lnTo>
                  <a:cubicBezTo>
                    <a:pt x="6054344" y="2610739"/>
                    <a:pt x="6029706" y="2635377"/>
                    <a:pt x="5999226" y="2635377"/>
                  </a:cubicBezTo>
                  <a:lnTo>
                    <a:pt x="55118" y="2635377"/>
                  </a:lnTo>
                  <a:cubicBezTo>
                    <a:pt x="24638" y="2635377"/>
                    <a:pt x="0" y="2610739"/>
                    <a:pt x="0" y="2580259"/>
                  </a:cubicBezTo>
                  <a:close/>
                </a:path>
              </a:pathLst>
            </a:custGeom>
            <a:solidFill>
              <a:srgbClr val="315251"/>
            </a:solidFill>
          </p:spPr>
        </p:sp>
      </p:grpSp>
      <p:sp>
        <p:nvSpPr>
          <p:cNvPr name="TextBox 14" id="14"/>
          <p:cNvSpPr txBox="true"/>
          <p:nvPr/>
        </p:nvSpPr>
        <p:spPr>
          <a:xfrm rot="0">
            <a:off x="1322937" y="3452222"/>
            <a:ext cx="3245196" cy="443808"/>
          </a:xfrm>
          <a:prstGeom prst="rect">
            <a:avLst/>
          </a:prstGeom>
        </p:spPr>
        <p:txBody>
          <a:bodyPr anchor="t" rtlCol="false" tIns="0" lIns="0" bIns="0" rIns="0">
            <a:spAutoFit/>
          </a:bodyPr>
          <a:lstStyle/>
          <a:p>
            <a:pPr algn="l">
              <a:lnSpc>
                <a:spcPts val="3119"/>
              </a:lnSpc>
            </a:pPr>
            <a:r>
              <a:rPr lang="en-US" sz="2499">
                <a:solidFill>
                  <a:srgbClr val="000000"/>
                </a:solidFill>
                <a:latin typeface="Quattrocento"/>
                <a:ea typeface="Quattrocento"/>
                <a:cs typeface="Quattrocento"/>
                <a:sym typeface="Quattrocento"/>
              </a:rPr>
              <a:t>🌐</a:t>
            </a:r>
            <a:r>
              <a:rPr lang="en-US" sz="2499">
                <a:solidFill>
                  <a:srgbClr val="F9EEE7"/>
                </a:solidFill>
                <a:latin typeface="Quattrocento"/>
                <a:ea typeface="Quattrocento"/>
                <a:cs typeface="Quattrocento"/>
                <a:sym typeface="Quattrocento"/>
              </a:rPr>
              <a:t> Live Demo</a:t>
            </a:r>
          </a:p>
        </p:txBody>
      </p:sp>
      <p:sp>
        <p:nvSpPr>
          <p:cNvPr name="TextBox 15" id="15"/>
          <p:cNvSpPr txBox="true"/>
          <p:nvPr/>
        </p:nvSpPr>
        <p:spPr>
          <a:xfrm rot="0">
            <a:off x="1322937" y="3962848"/>
            <a:ext cx="3989194" cy="933450"/>
          </a:xfrm>
          <a:prstGeom prst="rect">
            <a:avLst/>
          </a:prstGeom>
        </p:spPr>
        <p:txBody>
          <a:bodyPr anchor="t" rtlCol="false" tIns="0" lIns="0" bIns="0" rIns="0">
            <a:spAutoFit/>
          </a:bodyPr>
          <a:lstStyle/>
          <a:p>
            <a:pPr algn="l">
              <a:lnSpc>
                <a:spcPts val="3225"/>
              </a:lnSpc>
            </a:pPr>
            <a:r>
              <a:rPr lang="en-US" sz="2100">
                <a:solidFill>
                  <a:srgbClr val="F9EEE7"/>
                </a:solidFill>
                <a:latin typeface="Quattrocento"/>
                <a:ea typeface="Quattrocento"/>
                <a:cs typeface="Quattrocento"/>
                <a:sym typeface="Quattrocento"/>
              </a:rPr>
              <a:t>escrow-x-secure-freelance-payments-sepia.vercel.app</a:t>
            </a:r>
          </a:p>
        </p:txBody>
      </p:sp>
      <p:grpSp>
        <p:nvGrpSpPr>
          <p:cNvPr name="Group 16" id="16"/>
          <p:cNvGrpSpPr/>
          <p:nvPr/>
        </p:nvGrpSpPr>
        <p:grpSpPr>
          <a:xfrm rot="0">
            <a:off x="5842102" y="3195485"/>
            <a:ext cx="4540748" cy="1976590"/>
            <a:chOff x="0" y="0"/>
            <a:chExt cx="6054331" cy="2635453"/>
          </a:xfrm>
        </p:grpSpPr>
        <p:sp>
          <p:nvSpPr>
            <p:cNvPr name="Freeform 17" id="17"/>
            <p:cNvSpPr/>
            <p:nvPr/>
          </p:nvSpPr>
          <p:spPr>
            <a:xfrm flipH="false" flipV="false" rot="0">
              <a:off x="0" y="0"/>
              <a:ext cx="6054344" cy="2635377"/>
            </a:xfrm>
            <a:custGeom>
              <a:avLst/>
              <a:gdLst/>
              <a:ahLst/>
              <a:cxnLst/>
              <a:rect r="r" b="b" t="t" l="l"/>
              <a:pathLst>
                <a:path h="2635377" w="6054344">
                  <a:moveTo>
                    <a:pt x="0" y="55118"/>
                  </a:moveTo>
                  <a:cubicBezTo>
                    <a:pt x="0" y="24638"/>
                    <a:pt x="24638" y="0"/>
                    <a:pt x="55118" y="0"/>
                  </a:cubicBezTo>
                  <a:lnTo>
                    <a:pt x="5999226" y="0"/>
                  </a:lnTo>
                  <a:cubicBezTo>
                    <a:pt x="6029706" y="0"/>
                    <a:pt x="6054344" y="24638"/>
                    <a:pt x="6054344" y="55118"/>
                  </a:cubicBezTo>
                  <a:lnTo>
                    <a:pt x="6054344" y="2580259"/>
                  </a:lnTo>
                  <a:cubicBezTo>
                    <a:pt x="6054344" y="2610739"/>
                    <a:pt x="6029706" y="2635377"/>
                    <a:pt x="5999226" y="2635377"/>
                  </a:cubicBezTo>
                  <a:lnTo>
                    <a:pt x="55118" y="2635377"/>
                  </a:lnTo>
                  <a:cubicBezTo>
                    <a:pt x="24638" y="2635377"/>
                    <a:pt x="0" y="2610739"/>
                    <a:pt x="0" y="2580259"/>
                  </a:cubicBezTo>
                  <a:close/>
                </a:path>
              </a:pathLst>
            </a:custGeom>
            <a:solidFill>
              <a:srgbClr val="315251"/>
            </a:solidFill>
          </p:spPr>
        </p:sp>
      </p:grpSp>
      <p:sp>
        <p:nvSpPr>
          <p:cNvPr name="TextBox 18" id="18"/>
          <p:cNvSpPr txBox="true"/>
          <p:nvPr/>
        </p:nvSpPr>
        <p:spPr>
          <a:xfrm rot="0">
            <a:off x="6117879" y="3452222"/>
            <a:ext cx="3245196" cy="443808"/>
          </a:xfrm>
          <a:prstGeom prst="rect">
            <a:avLst/>
          </a:prstGeom>
        </p:spPr>
        <p:txBody>
          <a:bodyPr anchor="t" rtlCol="false" tIns="0" lIns="0" bIns="0" rIns="0">
            <a:spAutoFit/>
          </a:bodyPr>
          <a:lstStyle/>
          <a:p>
            <a:pPr algn="l">
              <a:lnSpc>
                <a:spcPts val="3119"/>
              </a:lnSpc>
            </a:pPr>
            <a:r>
              <a:rPr lang="en-US" sz="2499">
                <a:solidFill>
                  <a:srgbClr val="000000"/>
                </a:solidFill>
                <a:latin typeface="Quattrocento"/>
                <a:ea typeface="Quattrocento"/>
                <a:cs typeface="Quattrocento"/>
                <a:sym typeface="Quattrocento"/>
              </a:rPr>
              <a:t>💻</a:t>
            </a:r>
            <a:r>
              <a:rPr lang="en-US" sz="2499">
                <a:solidFill>
                  <a:srgbClr val="F9EEE7"/>
                </a:solidFill>
                <a:latin typeface="Quattrocento"/>
                <a:ea typeface="Quattrocento"/>
                <a:cs typeface="Quattrocento"/>
                <a:sym typeface="Quattrocento"/>
              </a:rPr>
              <a:t> GitHub</a:t>
            </a:r>
          </a:p>
        </p:txBody>
      </p:sp>
      <p:sp>
        <p:nvSpPr>
          <p:cNvPr name="TextBox 19" id="19"/>
          <p:cNvSpPr txBox="true"/>
          <p:nvPr/>
        </p:nvSpPr>
        <p:spPr>
          <a:xfrm rot="0">
            <a:off x="6117879" y="3962848"/>
            <a:ext cx="3989194" cy="933450"/>
          </a:xfrm>
          <a:prstGeom prst="rect">
            <a:avLst/>
          </a:prstGeom>
        </p:spPr>
        <p:txBody>
          <a:bodyPr anchor="t" rtlCol="false" tIns="0" lIns="0" bIns="0" rIns="0">
            <a:spAutoFit/>
          </a:bodyPr>
          <a:lstStyle/>
          <a:p>
            <a:pPr algn="l">
              <a:lnSpc>
                <a:spcPts val="3225"/>
              </a:lnSpc>
            </a:pPr>
            <a:r>
              <a:rPr lang="en-US" sz="2100">
                <a:solidFill>
                  <a:srgbClr val="F9EEE7"/>
                </a:solidFill>
                <a:latin typeface="Quattrocento"/>
                <a:ea typeface="Quattrocento"/>
                <a:cs typeface="Quattrocento"/>
                <a:sym typeface="Quattrocento"/>
              </a:rPr>
              <a:t>github.com/anishkumar79/level5</a:t>
            </a:r>
          </a:p>
        </p:txBody>
      </p:sp>
      <p:grpSp>
        <p:nvGrpSpPr>
          <p:cNvPr name="Group 20" id="20"/>
          <p:cNvGrpSpPr/>
          <p:nvPr/>
        </p:nvGrpSpPr>
        <p:grpSpPr>
          <a:xfrm rot="0">
            <a:off x="1047150" y="5426278"/>
            <a:ext cx="9335691" cy="1976590"/>
            <a:chOff x="0" y="0"/>
            <a:chExt cx="12447588" cy="2635453"/>
          </a:xfrm>
        </p:grpSpPr>
        <p:sp>
          <p:nvSpPr>
            <p:cNvPr name="Freeform 21" id="21"/>
            <p:cNvSpPr/>
            <p:nvPr/>
          </p:nvSpPr>
          <p:spPr>
            <a:xfrm flipH="false" flipV="false" rot="0">
              <a:off x="0" y="0"/>
              <a:ext cx="12447525" cy="2635377"/>
            </a:xfrm>
            <a:custGeom>
              <a:avLst/>
              <a:gdLst/>
              <a:ahLst/>
              <a:cxnLst/>
              <a:rect r="r" b="b" t="t" l="l"/>
              <a:pathLst>
                <a:path h="2635377" w="12447525">
                  <a:moveTo>
                    <a:pt x="0" y="55118"/>
                  </a:moveTo>
                  <a:cubicBezTo>
                    <a:pt x="0" y="24638"/>
                    <a:pt x="24638" y="0"/>
                    <a:pt x="55118" y="0"/>
                  </a:cubicBezTo>
                  <a:lnTo>
                    <a:pt x="12392406" y="0"/>
                  </a:lnTo>
                  <a:cubicBezTo>
                    <a:pt x="12422887" y="0"/>
                    <a:pt x="12447525" y="24638"/>
                    <a:pt x="12447525" y="55118"/>
                  </a:cubicBezTo>
                  <a:lnTo>
                    <a:pt x="12447525" y="2580259"/>
                  </a:lnTo>
                  <a:cubicBezTo>
                    <a:pt x="12447525" y="2610739"/>
                    <a:pt x="12422887" y="2635377"/>
                    <a:pt x="12392406" y="2635377"/>
                  </a:cubicBezTo>
                  <a:lnTo>
                    <a:pt x="55118" y="2635377"/>
                  </a:lnTo>
                  <a:cubicBezTo>
                    <a:pt x="24638" y="2635377"/>
                    <a:pt x="0" y="2610739"/>
                    <a:pt x="0" y="2580259"/>
                  </a:cubicBezTo>
                  <a:close/>
                </a:path>
              </a:pathLst>
            </a:custGeom>
            <a:solidFill>
              <a:srgbClr val="315251"/>
            </a:solidFill>
          </p:spPr>
        </p:sp>
      </p:grpSp>
      <p:sp>
        <p:nvSpPr>
          <p:cNvPr name="TextBox 22" id="22"/>
          <p:cNvSpPr txBox="true"/>
          <p:nvPr/>
        </p:nvSpPr>
        <p:spPr>
          <a:xfrm rot="0">
            <a:off x="1322937" y="5683006"/>
            <a:ext cx="3245196" cy="443808"/>
          </a:xfrm>
          <a:prstGeom prst="rect">
            <a:avLst/>
          </a:prstGeom>
        </p:spPr>
        <p:txBody>
          <a:bodyPr anchor="t" rtlCol="false" tIns="0" lIns="0" bIns="0" rIns="0">
            <a:spAutoFit/>
          </a:bodyPr>
          <a:lstStyle/>
          <a:p>
            <a:pPr algn="l">
              <a:lnSpc>
                <a:spcPts val="3119"/>
              </a:lnSpc>
            </a:pPr>
            <a:r>
              <a:rPr lang="en-US" sz="2499">
                <a:solidFill>
                  <a:srgbClr val="000000"/>
                </a:solidFill>
                <a:latin typeface="Quattrocento"/>
                <a:ea typeface="Quattrocento"/>
                <a:cs typeface="Quattrocento"/>
                <a:sym typeface="Quattrocento"/>
              </a:rPr>
              <a:t>🔗</a:t>
            </a:r>
            <a:r>
              <a:rPr lang="en-US" sz="2499">
                <a:solidFill>
                  <a:srgbClr val="F9EEE7"/>
                </a:solidFill>
                <a:latin typeface="Quattrocento"/>
                <a:ea typeface="Quattrocento"/>
                <a:cs typeface="Quattrocento"/>
                <a:sym typeface="Quattrocento"/>
              </a:rPr>
              <a:t> Smart Contract</a:t>
            </a:r>
          </a:p>
        </p:txBody>
      </p:sp>
      <p:sp>
        <p:nvSpPr>
          <p:cNvPr name="TextBox 23" id="23"/>
          <p:cNvSpPr txBox="true"/>
          <p:nvPr/>
        </p:nvSpPr>
        <p:spPr>
          <a:xfrm rot="0">
            <a:off x="1322937" y="6193631"/>
            <a:ext cx="8784136" cy="933450"/>
          </a:xfrm>
          <a:prstGeom prst="rect">
            <a:avLst/>
          </a:prstGeom>
        </p:spPr>
        <p:txBody>
          <a:bodyPr anchor="t" rtlCol="false" tIns="0" lIns="0" bIns="0" rIns="0">
            <a:spAutoFit/>
          </a:bodyPr>
          <a:lstStyle/>
          <a:p>
            <a:pPr algn="l">
              <a:lnSpc>
                <a:spcPts val="3225"/>
              </a:lnSpc>
            </a:pPr>
            <a:r>
              <a:rPr lang="en-US" sz="2100">
                <a:solidFill>
                  <a:srgbClr val="F9EEE7"/>
                </a:solidFill>
                <a:latin typeface="Quattrocento"/>
                <a:ea typeface="Quattrocento"/>
                <a:cs typeface="Quattrocento"/>
                <a:sym typeface="Quattrocento"/>
              </a:rPr>
              <a:t>CBGL7N5GANUBPAV2UHXC5UBW3JSXGNLAKOMVJD54YNIZF6WN6PHSMQAL</a:t>
            </a:r>
          </a:p>
        </p:txBody>
      </p:sp>
      <p:grpSp>
        <p:nvGrpSpPr>
          <p:cNvPr name="Group 24" id="24"/>
          <p:cNvGrpSpPr/>
          <p:nvPr/>
        </p:nvGrpSpPr>
        <p:grpSpPr>
          <a:xfrm rot="0">
            <a:off x="1047150" y="7688904"/>
            <a:ext cx="9335691" cy="1443038"/>
            <a:chOff x="0" y="0"/>
            <a:chExt cx="12447588" cy="1924050"/>
          </a:xfrm>
        </p:grpSpPr>
        <p:sp>
          <p:nvSpPr>
            <p:cNvPr name="Freeform 25" id="25"/>
            <p:cNvSpPr/>
            <p:nvPr/>
          </p:nvSpPr>
          <p:spPr>
            <a:xfrm flipH="false" flipV="false" rot="0">
              <a:off x="0" y="0"/>
              <a:ext cx="12447525" cy="1924050"/>
            </a:xfrm>
            <a:custGeom>
              <a:avLst/>
              <a:gdLst/>
              <a:ahLst/>
              <a:cxnLst/>
              <a:rect r="r" b="b" t="t" l="l"/>
              <a:pathLst>
                <a:path h="1924050" w="12447525">
                  <a:moveTo>
                    <a:pt x="0" y="55118"/>
                  </a:moveTo>
                  <a:cubicBezTo>
                    <a:pt x="0" y="24638"/>
                    <a:pt x="24638" y="0"/>
                    <a:pt x="55118" y="0"/>
                  </a:cubicBezTo>
                  <a:lnTo>
                    <a:pt x="12392406" y="0"/>
                  </a:lnTo>
                  <a:cubicBezTo>
                    <a:pt x="12422887" y="0"/>
                    <a:pt x="12447525" y="24638"/>
                    <a:pt x="12447525" y="55118"/>
                  </a:cubicBezTo>
                  <a:lnTo>
                    <a:pt x="12447525" y="1868932"/>
                  </a:lnTo>
                  <a:cubicBezTo>
                    <a:pt x="12447525" y="1899412"/>
                    <a:pt x="12422887" y="1924050"/>
                    <a:pt x="12392406" y="1924050"/>
                  </a:cubicBezTo>
                  <a:lnTo>
                    <a:pt x="55118" y="1924050"/>
                  </a:lnTo>
                  <a:cubicBezTo>
                    <a:pt x="24638" y="1924050"/>
                    <a:pt x="0" y="1899412"/>
                    <a:pt x="0" y="1868932"/>
                  </a:cubicBezTo>
                  <a:close/>
                </a:path>
              </a:pathLst>
            </a:custGeom>
            <a:solidFill>
              <a:srgbClr val="441709"/>
            </a:solidFill>
          </p:spPr>
        </p:sp>
      </p:grpSp>
      <p:grpSp>
        <p:nvGrpSpPr>
          <p:cNvPr name="Group 26" id="26"/>
          <p:cNvGrpSpPr/>
          <p:nvPr/>
        </p:nvGrpSpPr>
        <p:grpSpPr>
          <a:xfrm rot="0">
            <a:off x="1322937" y="8077943"/>
            <a:ext cx="344691" cy="275777"/>
            <a:chOff x="0" y="0"/>
            <a:chExt cx="459588" cy="367703"/>
          </a:xfrm>
        </p:grpSpPr>
        <p:sp>
          <p:nvSpPr>
            <p:cNvPr name="Freeform 27" id="27" descr="preencoded.png"/>
            <p:cNvSpPr/>
            <p:nvPr/>
          </p:nvSpPr>
          <p:spPr>
            <a:xfrm flipH="false" flipV="false" rot="0">
              <a:off x="0" y="0"/>
              <a:ext cx="459613" cy="367665"/>
            </a:xfrm>
            <a:custGeom>
              <a:avLst/>
              <a:gdLst/>
              <a:ahLst/>
              <a:cxnLst/>
              <a:rect r="r" b="b" t="t" l="l"/>
              <a:pathLst>
                <a:path h="367665" w="459613">
                  <a:moveTo>
                    <a:pt x="0" y="0"/>
                  </a:moveTo>
                  <a:lnTo>
                    <a:pt x="459613" y="0"/>
                  </a:lnTo>
                  <a:lnTo>
                    <a:pt x="459613" y="367665"/>
                  </a:lnTo>
                  <a:lnTo>
                    <a:pt x="0" y="367665"/>
                  </a:lnTo>
                  <a:lnTo>
                    <a:pt x="0" y="0"/>
                  </a:lnTo>
                  <a:close/>
                </a:path>
              </a:pathLst>
            </a:custGeom>
            <a:blipFill>
              <a:blip r:embed="rId6"/>
              <a:stretch>
                <a:fillRect l="-1038" t="0" r="-1033" b="-10"/>
              </a:stretch>
            </a:blipFill>
          </p:spPr>
        </p:sp>
      </p:grpSp>
      <p:sp>
        <p:nvSpPr>
          <p:cNvPr name="TextBox 28" id="28"/>
          <p:cNvSpPr txBox="true"/>
          <p:nvPr/>
        </p:nvSpPr>
        <p:spPr>
          <a:xfrm rot="0">
            <a:off x="1943395" y="7900835"/>
            <a:ext cx="8163668" cy="933450"/>
          </a:xfrm>
          <a:prstGeom prst="rect">
            <a:avLst/>
          </a:prstGeom>
        </p:spPr>
        <p:txBody>
          <a:bodyPr anchor="t" rtlCol="false" tIns="0" lIns="0" bIns="0" rIns="0">
            <a:spAutoFit/>
          </a:bodyPr>
          <a:lstStyle/>
          <a:p>
            <a:pPr algn="l">
              <a:lnSpc>
                <a:spcPts val="3225"/>
              </a:lnSpc>
            </a:pPr>
            <a:r>
              <a:rPr lang="en-US" sz="2100">
                <a:solidFill>
                  <a:srgbClr val="FFFFFF"/>
                </a:solidFill>
                <a:latin typeface="Quattrocento"/>
                <a:ea typeface="Quattrocento"/>
                <a:cs typeface="Quattrocento"/>
                <a:sym typeface="Quattrocento"/>
              </a:rPr>
              <a:t>Built on Stellar · Powered by Soroban · Open for partnership and investment conversations.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DAHM8C1JITk</dc:identifier>
  <dcterms:modified xsi:type="dcterms:W3CDTF">2011-08-01T06:04:30Z</dcterms:modified>
  <cp:revision>1</cp:revision>
  <dc:title>EscrowX-Decentralized-Freelance-Payments.pptx</dc:title>
</cp:coreProperties>
</file>